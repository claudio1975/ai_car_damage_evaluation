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341" r:id="rId3"/>
    <p:sldId id="365" r:id="rId4"/>
    <p:sldId id="339" r:id="rId5"/>
    <p:sldId id="367" r:id="rId6"/>
    <p:sldId id="366" r:id="rId7"/>
    <p:sldId id="369" r:id="rId8"/>
    <p:sldId id="372" r:id="rId9"/>
    <p:sldId id="371" r:id="rId10"/>
    <p:sldId id="309" r:id="rId11"/>
    <p:sldId id="328" r:id="rId12"/>
    <p:sldId id="387" r:id="rId13"/>
    <p:sldId id="378" r:id="rId14"/>
    <p:sldId id="386" r:id="rId15"/>
    <p:sldId id="388" r:id="rId16"/>
    <p:sldId id="373" r:id="rId17"/>
    <p:sldId id="374" r:id="rId18"/>
    <p:sldId id="389" r:id="rId19"/>
    <p:sldId id="376" r:id="rId20"/>
    <p:sldId id="377" r:id="rId21"/>
    <p:sldId id="384" r:id="rId22"/>
    <p:sldId id="385" r:id="rId23"/>
    <p:sldId id="335" r:id="rId24"/>
    <p:sldId id="336" r:id="rId25"/>
    <p:sldId id="383" r:id="rId26"/>
    <p:sldId id="271" r:id="rId2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Stile con tema 1 - Color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Stile con tema 2 - Colore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DE055B-B003-498B-9F87-0AF4FBAD53AB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A3349FB-9168-4481-894F-63AC86E5E4C7}">
      <dgm:prSet custT="1"/>
      <dgm:spPr/>
      <dgm:t>
        <a:bodyPr/>
        <a:lstStyle/>
        <a:p>
          <a:r>
            <a:rPr lang="it-IT" sz="2000" dirty="0" err="1">
              <a:latin typeface="Verdana" panose="020B0604030504040204" pitchFamily="34" charset="0"/>
              <a:ea typeface="Verdana" panose="020B0604030504040204" pitchFamily="34" charset="0"/>
            </a:rPr>
            <a:t>Motivations</a:t>
          </a:r>
          <a:endParaRPr lang="en-US" sz="20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95A619B6-13B4-40D6-95DB-D4EFC74B4604}" type="parTrans" cxnId="{A7D01D2A-BFF4-4E64-A139-D55BB263A899}">
      <dgm:prSet/>
      <dgm:spPr/>
      <dgm:t>
        <a:bodyPr/>
        <a:lstStyle/>
        <a:p>
          <a:endParaRPr lang="en-US"/>
        </a:p>
      </dgm:t>
    </dgm:pt>
    <dgm:pt modelId="{14738645-778D-4DD8-968B-76806E0EF068}" type="sibTrans" cxnId="{A7D01D2A-BFF4-4E64-A139-D55BB263A899}">
      <dgm:prSet/>
      <dgm:spPr/>
      <dgm:t>
        <a:bodyPr/>
        <a:lstStyle/>
        <a:p>
          <a:endParaRPr lang="en-US"/>
        </a:p>
      </dgm:t>
    </dgm:pt>
    <dgm:pt modelId="{4FA2594F-72E4-4D9D-A98D-D9F2977FE7E7}">
      <dgm:prSet custT="1"/>
      <dgm:spPr/>
      <dgm:t>
        <a:bodyPr/>
        <a:lstStyle/>
        <a:p>
          <a:r>
            <a:rPr lang="it-IT" sz="2000" dirty="0">
              <a:latin typeface="Verdana" panose="020B0604030504040204" pitchFamily="34" charset="0"/>
              <a:ea typeface="Verdana" panose="020B0604030504040204" pitchFamily="34" charset="0"/>
            </a:rPr>
            <a:t>Use case </a:t>
          </a:r>
        </a:p>
        <a:p>
          <a:r>
            <a:rPr lang="it-IT" sz="2000" dirty="0" err="1">
              <a:latin typeface="Verdana" panose="020B0604030504040204" pitchFamily="34" charset="0"/>
              <a:ea typeface="Verdana" panose="020B0604030504040204" pitchFamily="34" charset="0"/>
            </a:rPr>
            <a:t>introduction</a:t>
          </a:r>
          <a:endParaRPr lang="en-US" sz="20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0B27C751-259B-4099-8124-A0E33CC349F4}" type="parTrans" cxnId="{BFD84137-5647-42D1-9A3F-61355B907C14}">
      <dgm:prSet/>
      <dgm:spPr/>
      <dgm:t>
        <a:bodyPr/>
        <a:lstStyle/>
        <a:p>
          <a:endParaRPr lang="en-US"/>
        </a:p>
      </dgm:t>
    </dgm:pt>
    <dgm:pt modelId="{E12022F0-424D-4722-9B85-A2C785885F74}" type="sibTrans" cxnId="{BFD84137-5647-42D1-9A3F-61355B907C14}">
      <dgm:prSet/>
      <dgm:spPr/>
      <dgm:t>
        <a:bodyPr/>
        <a:lstStyle/>
        <a:p>
          <a:endParaRPr lang="en-US"/>
        </a:p>
      </dgm:t>
    </dgm:pt>
    <dgm:pt modelId="{2BC0529F-6992-4812-B8E9-C0AEDD77BA49}">
      <dgm:prSet/>
      <dgm:spPr/>
      <dgm:t>
        <a:bodyPr/>
        <a:lstStyle/>
        <a:p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From Transformers to Vision Transformers</a:t>
          </a:r>
        </a:p>
      </dgm:t>
    </dgm:pt>
    <dgm:pt modelId="{307C3975-327B-4914-8509-ED230288FF64}" type="parTrans" cxnId="{F1624E5E-1009-4C92-AFA4-FC22EF24CFAC}">
      <dgm:prSet/>
      <dgm:spPr/>
      <dgm:t>
        <a:bodyPr/>
        <a:lstStyle/>
        <a:p>
          <a:endParaRPr lang="en-US"/>
        </a:p>
      </dgm:t>
    </dgm:pt>
    <dgm:pt modelId="{BBF3B79D-DAA6-4C1F-8987-C515BE40DE1B}" type="sibTrans" cxnId="{F1624E5E-1009-4C92-AFA4-FC22EF24CFAC}">
      <dgm:prSet/>
      <dgm:spPr/>
      <dgm:t>
        <a:bodyPr/>
        <a:lstStyle/>
        <a:p>
          <a:endParaRPr lang="en-US"/>
        </a:p>
      </dgm:t>
    </dgm:pt>
    <dgm:pt modelId="{AF15C3E1-8CC4-48DD-BE67-7760D9B499B8}">
      <dgm:prSet/>
      <dgm:spPr/>
      <dgm:t>
        <a:bodyPr/>
        <a:lstStyle/>
        <a:p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Agentic AI</a:t>
          </a:r>
        </a:p>
      </dgm:t>
    </dgm:pt>
    <dgm:pt modelId="{4606C1E9-4398-4312-8D26-689F01E81DED}" type="parTrans" cxnId="{2C037E58-0692-4CA3-B700-726AF178A4F5}">
      <dgm:prSet/>
      <dgm:spPr/>
      <dgm:t>
        <a:bodyPr/>
        <a:lstStyle/>
        <a:p>
          <a:endParaRPr lang="en-US"/>
        </a:p>
      </dgm:t>
    </dgm:pt>
    <dgm:pt modelId="{505F4639-53D7-4C16-8D60-D39F20A7FD3F}" type="sibTrans" cxnId="{2C037E58-0692-4CA3-B700-726AF178A4F5}">
      <dgm:prSet/>
      <dgm:spPr/>
      <dgm:t>
        <a:bodyPr/>
        <a:lstStyle/>
        <a:p>
          <a:endParaRPr lang="en-US"/>
        </a:p>
      </dgm:t>
    </dgm:pt>
    <dgm:pt modelId="{D55E8AC5-0C7D-4513-96FB-DA06D88A58F1}">
      <dgm:prSet/>
      <dgm:spPr/>
      <dgm:t>
        <a:bodyPr/>
        <a:lstStyle/>
        <a:p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A Multi-Agent System from Scratch for the Car Damage Evaluation</a:t>
          </a:r>
        </a:p>
      </dgm:t>
    </dgm:pt>
    <dgm:pt modelId="{C964E76D-E0C9-4CB3-9EC2-837B0B994400}" type="parTrans" cxnId="{21B38EEE-C076-4523-8F0E-82B087F09A9D}">
      <dgm:prSet/>
      <dgm:spPr/>
      <dgm:t>
        <a:bodyPr/>
        <a:lstStyle/>
        <a:p>
          <a:endParaRPr lang="en-US"/>
        </a:p>
      </dgm:t>
    </dgm:pt>
    <dgm:pt modelId="{5F71521D-7078-4C26-8ED8-4DA531892C2E}" type="sibTrans" cxnId="{21B38EEE-C076-4523-8F0E-82B087F09A9D}">
      <dgm:prSet/>
      <dgm:spPr/>
      <dgm:t>
        <a:bodyPr/>
        <a:lstStyle/>
        <a:p>
          <a:endParaRPr lang="en-US"/>
        </a:p>
      </dgm:t>
    </dgm:pt>
    <dgm:pt modelId="{419AC358-FDAF-4B4D-915D-7B3B60DB8859}">
      <dgm:prSet custT="1"/>
      <dgm:spPr/>
      <dgm:t>
        <a:bodyPr/>
        <a:lstStyle/>
        <a:p>
          <a:r>
            <a:rPr lang="en-US" sz="2000" dirty="0">
              <a:latin typeface="Verdana" panose="020B0604030504040204" pitchFamily="34" charset="0"/>
              <a:ea typeface="Verdana" panose="020B0604030504040204" pitchFamily="34" charset="0"/>
            </a:rPr>
            <a:t>Comparison &amp; Challenges</a:t>
          </a:r>
        </a:p>
      </dgm:t>
    </dgm:pt>
    <dgm:pt modelId="{DA3D21EF-27D6-409D-85B2-5DBEB50EDD2E}" type="parTrans" cxnId="{826EBE36-2552-468D-B0DE-C3BC7B6D8662}">
      <dgm:prSet/>
      <dgm:spPr/>
      <dgm:t>
        <a:bodyPr/>
        <a:lstStyle/>
        <a:p>
          <a:endParaRPr lang="en-US"/>
        </a:p>
      </dgm:t>
    </dgm:pt>
    <dgm:pt modelId="{0EAEB2BB-D669-466E-A98A-A4E95B253553}" type="sibTrans" cxnId="{826EBE36-2552-468D-B0DE-C3BC7B6D8662}">
      <dgm:prSet/>
      <dgm:spPr/>
      <dgm:t>
        <a:bodyPr/>
        <a:lstStyle/>
        <a:p>
          <a:endParaRPr lang="en-US"/>
        </a:p>
      </dgm:t>
    </dgm:pt>
    <dgm:pt modelId="{DEA3F86D-38A6-431C-986A-3E720291AF2F}">
      <dgm:prSet custT="1"/>
      <dgm:spPr/>
      <dgm:t>
        <a:bodyPr/>
        <a:lstStyle/>
        <a:p>
          <a:r>
            <a:rPr lang="en-US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Conclusions</a:t>
          </a:r>
        </a:p>
      </dgm:t>
    </dgm:pt>
    <dgm:pt modelId="{57E6A78B-DA00-4A1C-AF51-926ECCFEA7A6}" type="parTrans" cxnId="{69222014-F676-41F9-9ED7-209BAF609652}">
      <dgm:prSet/>
      <dgm:spPr/>
      <dgm:t>
        <a:bodyPr/>
        <a:lstStyle/>
        <a:p>
          <a:endParaRPr lang="en-US"/>
        </a:p>
      </dgm:t>
    </dgm:pt>
    <dgm:pt modelId="{63C5CD1D-8CAB-4F23-9481-1651166B6715}" type="sibTrans" cxnId="{69222014-F676-41F9-9ED7-209BAF609652}">
      <dgm:prSet/>
      <dgm:spPr/>
      <dgm:t>
        <a:bodyPr/>
        <a:lstStyle/>
        <a:p>
          <a:endParaRPr lang="en-US"/>
        </a:p>
      </dgm:t>
    </dgm:pt>
    <dgm:pt modelId="{FFF8AA56-505C-4080-9A91-182F5A357F3C}" type="pres">
      <dgm:prSet presAssocID="{DADE055B-B003-498B-9F87-0AF4FBAD53AB}" presName="Name0" presStyleCnt="0">
        <dgm:presLayoutVars>
          <dgm:dir/>
          <dgm:resizeHandles val="exact"/>
        </dgm:presLayoutVars>
      </dgm:prSet>
      <dgm:spPr/>
    </dgm:pt>
    <dgm:pt modelId="{201F8A80-73F1-4243-A382-8480CC97A4C9}" type="pres">
      <dgm:prSet presAssocID="{AA3349FB-9168-4481-894F-63AC86E5E4C7}" presName="node" presStyleLbl="node1" presStyleIdx="0" presStyleCnt="7">
        <dgm:presLayoutVars>
          <dgm:bulletEnabled val="1"/>
        </dgm:presLayoutVars>
      </dgm:prSet>
      <dgm:spPr/>
    </dgm:pt>
    <dgm:pt modelId="{041B3832-777B-4664-98DD-342209CBA0D0}" type="pres">
      <dgm:prSet presAssocID="{14738645-778D-4DD8-968B-76806E0EF068}" presName="sibTrans" presStyleLbl="sibTrans1D1" presStyleIdx="0" presStyleCnt="6"/>
      <dgm:spPr/>
    </dgm:pt>
    <dgm:pt modelId="{12E19540-71A8-4942-A704-64DDF790ED7D}" type="pres">
      <dgm:prSet presAssocID="{14738645-778D-4DD8-968B-76806E0EF068}" presName="connectorText" presStyleLbl="sibTrans1D1" presStyleIdx="0" presStyleCnt="6"/>
      <dgm:spPr/>
    </dgm:pt>
    <dgm:pt modelId="{8E66330E-56AE-4481-BAEF-162BF844A328}" type="pres">
      <dgm:prSet presAssocID="{4FA2594F-72E4-4D9D-A98D-D9F2977FE7E7}" presName="node" presStyleLbl="node1" presStyleIdx="1" presStyleCnt="7">
        <dgm:presLayoutVars>
          <dgm:bulletEnabled val="1"/>
        </dgm:presLayoutVars>
      </dgm:prSet>
      <dgm:spPr/>
    </dgm:pt>
    <dgm:pt modelId="{7F497B0A-B0D4-405B-94D6-AC164BA2C471}" type="pres">
      <dgm:prSet presAssocID="{E12022F0-424D-4722-9B85-A2C785885F74}" presName="sibTrans" presStyleLbl="sibTrans1D1" presStyleIdx="1" presStyleCnt="6"/>
      <dgm:spPr/>
    </dgm:pt>
    <dgm:pt modelId="{24CBEB02-C643-40CA-AA7F-076A4330EFEA}" type="pres">
      <dgm:prSet presAssocID="{E12022F0-424D-4722-9B85-A2C785885F74}" presName="connectorText" presStyleLbl="sibTrans1D1" presStyleIdx="1" presStyleCnt="6"/>
      <dgm:spPr/>
    </dgm:pt>
    <dgm:pt modelId="{9FECA863-BEE8-4F18-A685-F5674F292C96}" type="pres">
      <dgm:prSet presAssocID="{2BC0529F-6992-4812-B8E9-C0AEDD77BA49}" presName="node" presStyleLbl="node1" presStyleIdx="2" presStyleCnt="7">
        <dgm:presLayoutVars>
          <dgm:bulletEnabled val="1"/>
        </dgm:presLayoutVars>
      </dgm:prSet>
      <dgm:spPr/>
    </dgm:pt>
    <dgm:pt modelId="{121CE1CD-D879-4C69-B6AD-A3439B9466F8}" type="pres">
      <dgm:prSet presAssocID="{BBF3B79D-DAA6-4C1F-8987-C515BE40DE1B}" presName="sibTrans" presStyleLbl="sibTrans1D1" presStyleIdx="2" presStyleCnt="6"/>
      <dgm:spPr/>
    </dgm:pt>
    <dgm:pt modelId="{0E626108-98AD-4A10-B924-D0B9DF3A54EA}" type="pres">
      <dgm:prSet presAssocID="{BBF3B79D-DAA6-4C1F-8987-C515BE40DE1B}" presName="connectorText" presStyleLbl="sibTrans1D1" presStyleIdx="2" presStyleCnt="6"/>
      <dgm:spPr/>
    </dgm:pt>
    <dgm:pt modelId="{219A7943-8356-40A7-94A7-73BC56280FD3}" type="pres">
      <dgm:prSet presAssocID="{AF15C3E1-8CC4-48DD-BE67-7760D9B499B8}" presName="node" presStyleLbl="node1" presStyleIdx="3" presStyleCnt="7">
        <dgm:presLayoutVars>
          <dgm:bulletEnabled val="1"/>
        </dgm:presLayoutVars>
      </dgm:prSet>
      <dgm:spPr/>
    </dgm:pt>
    <dgm:pt modelId="{9CF87F21-4E84-4DEB-8740-9318343F0921}" type="pres">
      <dgm:prSet presAssocID="{505F4639-53D7-4C16-8D60-D39F20A7FD3F}" presName="sibTrans" presStyleLbl="sibTrans1D1" presStyleIdx="3" presStyleCnt="6"/>
      <dgm:spPr/>
    </dgm:pt>
    <dgm:pt modelId="{D458DBE4-AFEE-4992-B701-9E61F1F37767}" type="pres">
      <dgm:prSet presAssocID="{505F4639-53D7-4C16-8D60-D39F20A7FD3F}" presName="connectorText" presStyleLbl="sibTrans1D1" presStyleIdx="3" presStyleCnt="6"/>
      <dgm:spPr/>
    </dgm:pt>
    <dgm:pt modelId="{0DCEE678-3CBB-478F-A108-8CAFFB76E5CC}" type="pres">
      <dgm:prSet presAssocID="{D55E8AC5-0C7D-4513-96FB-DA06D88A58F1}" presName="node" presStyleLbl="node1" presStyleIdx="4" presStyleCnt="7">
        <dgm:presLayoutVars>
          <dgm:bulletEnabled val="1"/>
        </dgm:presLayoutVars>
      </dgm:prSet>
      <dgm:spPr/>
    </dgm:pt>
    <dgm:pt modelId="{6FD2619B-BC17-430A-8066-B474BB25D64B}" type="pres">
      <dgm:prSet presAssocID="{5F71521D-7078-4C26-8ED8-4DA531892C2E}" presName="sibTrans" presStyleLbl="sibTrans1D1" presStyleIdx="4" presStyleCnt="6"/>
      <dgm:spPr/>
    </dgm:pt>
    <dgm:pt modelId="{B6299D48-FC2B-4D01-A4B9-36054B624D39}" type="pres">
      <dgm:prSet presAssocID="{5F71521D-7078-4C26-8ED8-4DA531892C2E}" presName="connectorText" presStyleLbl="sibTrans1D1" presStyleIdx="4" presStyleCnt="6"/>
      <dgm:spPr/>
    </dgm:pt>
    <dgm:pt modelId="{FBC939B4-3C56-4E7C-A9F2-3C2ED1D40E7D}" type="pres">
      <dgm:prSet presAssocID="{419AC358-FDAF-4B4D-915D-7B3B60DB8859}" presName="node" presStyleLbl="node1" presStyleIdx="5" presStyleCnt="7">
        <dgm:presLayoutVars>
          <dgm:bulletEnabled val="1"/>
        </dgm:presLayoutVars>
      </dgm:prSet>
      <dgm:spPr/>
    </dgm:pt>
    <dgm:pt modelId="{E47EB061-158C-42D3-95BE-67190572E755}" type="pres">
      <dgm:prSet presAssocID="{0EAEB2BB-D669-466E-A98A-A4E95B253553}" presName="sibTrans" presStyleLbl="sibTrans1D1" presStyleIdx="5" presStyleCnt="6"/>
      <dgm:spPr/>
    </dgm:pt>
    <dgm:pt modelId="{DC9C4F81-0E5E-459C-B9CD-CDED95FF78E1}" type="pres">
      <dgm:prSet presAssocID="{0EAEB2BB-D669-466E-A98A-A4E95B253553}" presName="connectorText" presStyleLbl="sibTrans1D1" presStyleIdx="5" presStyleCnt="6"/>
      <dgm:spPr/>
    </dgm:pt>
    <dgm:pt modelId="{26E3CB6A-4176-4EB7-95F2-60A937CB9AAF}" type="pres">
      <dgm:prSet presAssocID="{DEA3F86D-38A6-431C-986A-3E720291AF2F}" presName="node" presStyleLbl="node1" presStyleIdx="6" presStyleCnt="7">
        <dgm:presLayoutVars>
          <dgm:bulletEnabled val="1"/>
        </dgm:presLayoutVars>
      </dgm:prSet>
      <dgm:spPr/>
    </dgm:pt>
  </dgm:ptLst>
  <dgm:cxnLst>
    <dgm:cxn modelId="{8B0ECF07-6DF2-46C7-9375-2B631EA107AE}" type="presOf" srcId="{0EAEB2BB-D669-466E-A98A-A4E95B253553}" destId="{DC9C4F81-0E5E-459C-B9CD-CDED95FF78E1}" srcOrd="1" destOrd="0" presId="urn:microsoft.com/office/officeart/2016/7/layout/RepeatingBendingProcessNew"/>
    <dgm:cxn modelId="{69222014-F676-41F9-9ED7-209BAF609652}" srcId="{DADE055B-B003-498B-9F87-0AF4FBAD53AB}" destId="{DEA3F86D-38A6-431C-986A-3E720291AF2F}" srcOrd="6" destOrd="0" parTransId="{57E6A78B-DA00-4A1C-AF51-926ECCFEA7A6}" sibTransId="{63C5CD1D-8CAB-4F23-9481-1651166B6715}"/>
    <dgm:cxn modelId="{7C4B6121-1E2C-4CE5-8DE7-8D4D7A4BAEA7}" type="presOf" srcId="{BBF3B79D-DAA6-4C1F-8987-C515BE40DE1B}" destId="{0E626108-98AD-4A10-B924-D0B9DF3A54EA}" srcOrd="1" destOrd="0" presId="urn:microsoft.com/office/officeart/2016/7/layout/RepeatingBendingProcessNew"/>
    <dgm:cxn modelId="{A7D01D2A-BFF4-4E64-A139-D55BB263A899}" srcId="{DADE055B-B003-498B-9F87-0AF4FBAD53AB}" destId="{AA3349FB-9168-4481-894F-63AC86E5E4C7}" srcOrd="0" destOrd="0" parTransId="{95A619B6-13B4-40D6-95DB-D4EFC74B4604}" sibTransId="{14738645-778D-4DD8-968B-76806E0EF068}"/>
    <dgm:cxn modelId="{826EBE36-2552-468D-B0DE-C3BC7B6D8662}" srcId="{DADE055B-B003-498B-9F87-0AF4FBAD53AB}" destId="{419AC358-FDAF-4B4D-915D-7B3B60DB8859}" srcOrd="5" destOrd="0" parTransId="{DA3D21EF-27D6-409D-85B2-5DBEB50EDD2E}" sibTransId="{0EAEB2BB-D669-466E-A98A-A4E95B253553}"/>
    <dgm:cxn modelId="{4B736037-BE38-4D18-8CE3-AE80CE2732C0}" type="presOf" srcId="{D55E8AC5-0C7D-4513-96FB-DA06D88A58F1}" destId="{0DCEE678-3CBB-478F-A108-8CAFFB76E5CC}" srcOrd="0" destOrd="0" presId="urn:microsoft.com/office/officeart/2016/7/layout/RepeatingBendingProcessNew"/>
    <dgm:cxn modelId="{BFD84137-5647-42D1-9A3F-61355B907C14}" srcId="{DADE055B-B003-498B-9F87-0AF4FBAD53AB}" destId="{4FA2594F-72E4-4D9D-A98D-D9F2977FE7E7}" srcOrd="1" destOrd="0" parTransId="{0B27C751-259B-4099-8124-A0E33CC349F4}" sibTransId="{E12022F0-424D-4722-9B85-A2C785885F74}"/>
    <dgm:cxn modelId="{C7F3133C-7A0F-4E2E-A251-0151AB384A0F}" type="presOf" srcId="{DEA3F86D-38A6-431C-986A-3E720291AF2F}" destId="{26E3CB6A-4176-4EB7-95F2-60A937CB9AAF}" srcOrd="0" destOrd="0" presId="urn:microsoft.com/office/officeart/2016/7/layout/RepeatingBendingProcessNew"/>
    <dgm:cxn modelId="{7400EE40-7E69-41D3-A933-154E958E06D0}" type="presOf" srcId="{419AC358-FDAF-4B4D-915D-7B3B60DB8859}" destId="{FBC939B4-3C56-4E7C-A9F2-3C2ED1D40E7D}" srcOrd="0" destOrd="0" presId="urn:microsoft.com/office/officeart/2016/7/layout/RepeatingBendingProcessNew"/>
    <dgm:cxn modelId="{66C8505C-2597-4AA0-BC2E-7CC2DEBC08B4}" type="presOf" srcId="{2BC0529F-6992-4812-B8E9-C0AEDD77BA49}" destId="{9FECA863-BEE8-4F18-A685-F5674F292C96}" srcOrd="0" destOrd="0" presId="urn:microsoft.com/office/officeart/2016/7/layout/RepeatingBendingProcessNew"/>
    <dgm:cxn modelId="{F1624E5E-1009-4C92-AFA4-FC22EF24CFAC}" srcId="{DADE055B-B003-498B-9F87-0AF4FBAD53AB}" destId="{2BC0529F-6992-4812-B8E9-C0AEDD77BA49}" srcOrd="2" destOrd="0" parTransId="{307C3975-327B-4914-8509-ED230288FF64}" sibTransId="{BBF3B79D-DAA6-4C1F-8987-C515BE40DE1B}"/>
    <dgm:cxn modelId="{EDB40842-61DC-49C6-8F34-26E8F48C6F0D}" type="presOf" srcId="{5F71521D-7078-4C26-8ED8-4DA531892C2E}" destId="{B6299D48-FC2B-4D01-A4B9-36054B624D39}" srcOrd="1" destOrd="0" presId="urn:microsoft.com/office/officeart/2016/7/layout/RepeatingBendingProcessNew"/>
    <dgm:cxn modelId="{F227A562-B047-4F81-A970-3C15FCFB8120}" type="presOf" srcId="{AA3349FB-9168-4481-894F-63AC86E5E4C7}" destId="{201F8A80-73F1-4243-A382-8480CC97A4C9}" srcOrd="0" destOrd="0" presId="urn:microsoft.com/office/officeart/2016/7/layout/RepeatingBendingProcessNew"/>
    <dgm:cxn modelId="{D6277B44-C7C3-4396-84BB-7489974B7654}" type="presOf" srcId="{E12022F0-424D-4722-9B85-A2C785885F74}" destId="{7F497B0A-B0D4-405B-94D6-AC164BA2C471}" srcOrd="0" destOrd="0" presId="urn:microsoft.com/office/officeart/2016/7/layout/RepeatingBendingProcessNew"/>
    <dgm:cxn modelId="{7DE53C48-6956-4867-9BF8-BB43D9A4DFBB}" type="presOf" srcId="{505F4639-53D7-4C16-8D60-D39F20A7FD3F}" destId="{9CF87F21-4E84-4DEB-8740-9318343F0921}" srcOrd="0" destOrd="0" presId="urn:microsoft.com/office/officeart/2016/7/layout/RepeatingBendingProcessNew"/>
    <dgm:cxn modelId="{ED210F57-84F7-42C3-9ED8-8F420621C3EF}" type="presOf" srcId="{AF15C3E1-8CC4-48DD-BE67-7760D9B499B8}" destId="{219A7943-8356-40A7-94A7-73BC56280FD3}" srcOrd="0" destOrd="0" presId="urn:microsoft.com/office/officeart/2016/7/layout/RepeatingBendingProcessNew"/>
    <dgm:cxn modelId="{2C037E58-0692-4CA3-B700-726AF178A4F5}" srcId="{DADE055B-B003-498B-9F87-0AF4FBAD53AB}" destId="{AF15C3E1-8CC4-48DD-BE67-7760D9B499B8}" srcOrd="3" destOrd="0" parTransId="{4606C1E9-4398-4312-8D26-689F01E81DED}" sibTransId="{505F4639-53D7-4C16-8D60-D39F20A7FD3F}"/>
    <dgm:cxn modelId="{C1725A7D-5CF5-400D-9345-3629389F7482}" type="presOf" srcId="{DADE055B-B003-498B-9F87-0AF4FBAD53AB}" destId="{FFF8AA56-505C-4080-9A91-182F5A357F3C}" srcOrd="0" destOrd="0" presId="urn:microsoft.com/office/officeart/2016/7/layout/RepeatingBendingProcessNew"/>
    <dgm:cxn modelId="{0331B4A7-D8D3-4CCC-B24A-51DDB5A8DA0B}" type="presOf" srcId="{14738645-778D-4DD8-968B-76806E0EF068}" destId="{041B3832-777B-4664-98DD-342209CBA0D0}" srcOrd="0" destOrd="0" presId="urn:microsoft.com/office/officeart/2016/7/layout/RepeatingBendingProcessNew"/>
    <dgm:cxn modelId="{8D0527BD-6D0C-464D-950C-777EFD16E6FF}" type="presOf" srcId="{14738645-778D-4DD8-968B-76806E0EF068}" destId="{12E19540-71A8-4942-A704-64DDF790ED7D}" srcOrd="1" destOrd="0" presId="urn:microsoft.com/office/officeart/2016/7/layout/RepeatingBendingProcessNew"/>
    <dgm:cxn modelId="{8709C5BE-A0AF-4494-8D95-350E286A6C69}" type="presOf" srcId="{E12022F0-424D-4722-9B85-A2C785885F74}" destId="{24CBEB02-C643-40CA-AA7F-076A4330EFEA}" srcOrd="1" destOrd="0" presId="urn:microsoft.com/office/officeart/2016/7/layout/RepeatingBendingProcessNew"/>
    <dgm:cxn modelId="{8C4560C7-1A22-4036-B1A7-E7322CA2546D}" type="presOf" srcId="{0EAEB2BB-D669-466E-A98A-A4E95B253553}" destId="{E47EB061-158C-42D3-95BE-67190572E755}" srcOrd="0" destOrd="0" presId="urn:microsoft.com/office/officeart/2016/7/layout/RepeatingBendingProcessNew"/>
    <dgm:cxn modelId="{85797ED2-5E40-412E-B202-43E6B203C812}" type="presOf" srcId="{5F71521D-7078-4C26-8ED8-4DA531892C2E}" destId="{6FD2619B-BC17-430A-8066-B474BB25D64B}" srcOrd="0" destOrd="0" presId="urn:microsoft.com/office/officeart/2016/7/layout/RepeatingBendingProcessNew"/>
    <dgm:cxn modelId="{498181D8-97DA-4414-B049-A0ADE3FB4EC9}" type="presOf" srcId="{505F4639-53D7-4C16-8D60-D39F20A7FD3F}" destId="{D458DBE4-AFEE-4992-B701-9E61F1F37767}" srcOrd="1" destOrd="0" presId="urn:microsoft.com/office/officeart/2016/7/layout/RepeatingBendingProcessNew"/>
    <dgm:cxn modelId="{21B38EEE-C076-4523-8F0E-82B087F09A9D}" srcId="{DADE055B-B003-498B-9F87-0AF4FBAD53AB}" destId="{D55E8AC5-0C7D-4513-96FB-DA06D88A58F1}" srcOrd="4" destOrd="0" parTransId="{C964E76D-E0C9-4CB3-9EC2-837B0B994400}" sibTransId="{5F71521D-7078-4C26-8ED8-4DA531892C2E}"/>
    <dgm:cxn modelId="{5C02D2EF-2927-442B-B6E7-E7358C93E9FF}" type="presOf" srcId="{4FA2594F-72E4-4D9D-A98D-D9F2977FE7E7}" destId="{8E66330E-56AE-4481-BAEF-162BF844A328}" srcOrd="0" destOrd="0" presId="urn:microsoft.com/office/officeart/2016/7/layout/RepeatingBendingProcessNew"/>
    <dgm:cxn modelId="{288088F4-9BB8-42D4-9BD1-8EA4F47123EB}" type="presOf" srcId="{BBF3B79D-DAA6-4C1F-8987-C515BE40DE1B}" destId="{121CE1CD-D879-4C69-B6AD-A3439B9466F8}" srcOrd="0" destOrd="0" presId="urn:microsoft.com/office/officeart/2016/7/layout/RepeatingBendingProcessNew"/>
    <dgm:cxn modelId="{C6CF9517-2959-416C-8364-8783A2640CF2}" type="presParOf" srcId="{FFF8AA56-505C-4080-9A91-182F5A357F3C}" destId="{201F8A80-73F1-4243-A382-8480CC97A4C9}" srcOrd="0" destOrd="0" presId="urn:microsoft.com/office/officeart/2016/7/layout/RepeatingBendingProcessNew"/>
    <dgm:cxn modelId="{CDE1DF41-31AA-4932-BE90-FF878AB7504D}" type="presParOf" srcId="{FFF8AA56-505C-4080-9A91-182F5A357F3C}" destId="{041B3832-777B-4664-98DD-342209CBA0D0}" srcOrd="1" destOrd="0" presId="urn:microsoft.com/office/officeart/2016/7/layout/RepeatingBendingProcessNew"/>
    <dgm:cxn modelId="{30EE52A7-096C-40A8-9A1F-062480EA3B46}" type="presParOf" srcId="{041B3832-777B-4664-98DD-342209CBA0D0}" destId="{12E19540-71A8-4942-A704-64DDF790ED7D}" srcOrd="0" destOrd="0" presId="urn:microsoft.com/office/officeart/2016/7/layout/RepeatingBendingProcessNew"/>
    <dgm:cxn modelId="{568571D1-4D42-46A7-BCBF-DE2752AE53E8}" type="presParOf" srcId="{FFF8AA56-505C-4080-9A91-182F5A357F3C}" destId="{8E66330E-56AE-4481-BAEF-162BF844A328}" srcOrd="2" destOrd="0" presId="urn:microsoft.com/office/officeart/2016/7/layout/RepeatingBendingProcessNew"/>
    <dgm:cxn modelId="{63133757-B4E6-4E5C-B157-1540A5112245}" type="presParOf" srcId="{FFF8AA56-505C-4080-9A91-182F5A357F3C}" destId="{7F497B0A-B0D4-405B-94D6-AC164BA2C471}" srcOrd="3" destOrd="0" presId="urn:microsoft.com/office/officeart/2016/7/layout/RepeatingBendingProcessNew"/>
    <dgm:cxn modelId="{AE4B5199-74C0-4077-94C1-16910950AE8C}" type="presParOf" srcId="{7F497B0A-B0D4-405B-94D6-AC164BA2C471}" destId="{24CBEB02-C643-40CA-AA7F-076A4330EFEA}" srcOrd="0" destOrd="0" presId="urn:microsoft.com/office/officeart/2016/7/layout/RepeatingBendingProcessNew"/>
    <dgm:cxn modelId="{9A18B935-C956-4DEF-88C3-08C27C8AA571}" type="presParOf" srcId="{FFF8AA56-505C-4080-9A91-182F5A357F3C}" destId="{9FECA863-BEE8-4F18-A685-F5674F292C96}" srcOrd="4" destOrd="0" presId="urn:microsoft.com/office/officeart/2016/7/layout/RepeatingBendingProcessNew"/>
    <dgm:cxn modelId="{9FED8D3E-8A45-4A9B-8461-0CC04820219B}" type="presParOf" srcId="{FFF8AA56-505C-4080-9A91-182F5A357F3C}" destId="{121CE1CD-D879-4C69-B6AD-A3439B9466F8}" srcOrd="5" destOrd="0" presId="urn:microsoft.com/office/officeart/2016/7/layout/RepeatingBendingProcessNew"/>
    <dgm:cxn modelId="{19F45A91-7C0B-4255-AAB6-F8FE035AD11D}" type="presParOf" srcId="{121CE1CD-D879-4C69-B6AD-A3439B9466F8}" destId="{0E626108-98AD-4A10-B924-D0B9DF3A54EA}" srcOrd="0" destOrd="0" presId="urn:microsoft.com/office/officeart/2016/7/layout/RepeatingBendingProcessNew"/>
    <dgm:cxn modelId="{7EA0D61F-C172-40BD-9D37-8D1A4470122F}" type="presParOf" srcId="{FFF8AA56-505C-4080-9A91-182F5A357F3C}" destId="{219A7943-8356-40A7-94A7-73BC56280FD3}" srcOrd="6" destOrd="0" presId="urn:microsoft.com/office/officeart/2016/7/layout/RepeatingBendingProcessNew"/>
    <dgm:cxn modelId="{D0710295-C96D-4139-B595-6F9B9F7AB577}" type="presParOf" srcId="{FFF8AA56-505C-4080-9A91-182F5A357F3C}" destId="{9CF87F21-4E84-4DEB-8740-9318343F0921}" srcOrd="7" destOrd="0" presId="urn:microsoft.com/office/officeart/2016/7/layout/RepeatingBendingProcessNew"/>
    <dgm:cxn modelId="{73A442CD-B073-409E-9BF6-BDB9FA76A2B7}" type="presParOf" srcId="{9CF87F21-4E84-4DEB-8740-9318343F0921}" destId="{D458DBE4-AFEE-4992-B701-9E61F1F37767}" srcOrd="0" destOrd="0" presId="urn:microsoft.com/office/officeart/2016/7/layout/RepeatingBendingProcessNew"/>
    <dgm:cxn modelId="{2772F2BB-8E7C-4327-8D2B-564DB9F827D4}" type="presParOf" srcId="{FFF8AA56-505C-4080-9A91-182F5A357F3C}" destId="{0DCEE678-3CBB-478F-A108-8CAFFB76E5CC}" srcOrd="8" destOrd="0" presId="urn:microsoft.com/office/officeart/2016/7/layout/RepeatingBendingProcessNew"/>
    <dgm:cxn modelId="{5BA5AD39-ABCA-4B2C-BD48-A10A19E5ACDD}" type="presParOf" srcId="{FFF8AA56-505C-4080-9A91-182F5A357F3C}" destId="{6FD2619B-BC17-430A-8066-B474BB25D64B}" srcOrd="9" destOrd="0" presId="urn:microsoft.com/office/officeart/2016/7/layout/RepeatingBendingProcessNew"/>
    <dgm:cxn modelId="{1F7AFB3B-B3CA-47D4-AD95-1953CA67C57E}" type="presParOf" srcId="{6FD2619B-BC17-430A-8066-B474BB25D64B}" destId="{B6299D48-FC2B-4D01-A4B9-36054B624D39}" srcOrd="0" destOrd="0" presId="urn:microsoft.com/office/officeart/2016/7/layout/RepeatingBendingProcessNew"/>
    <dgm:cxn modelId="{77FD1CEE-581E-4159-B4FD-60408468D8D8}" type="presParOf" srcId="{FFF8AA56-505C-4080-9A91-182F5A357F3C}" destId="{FBC939B4-3C56-4E7C-A9F2-3C2ED1D40E7D}" srcOrd="10" destOrd="0" presId="urn:microsoft.com/office/officeart/2016/7/layout/RepeatingBendingProcessNew"/>
    <dgm:cxn modelId="{62CEF0F2-0C02-4B9D-8403-F258527433B4}" type="presParOf" srcId="{FFF8AA56-505C-4080-9A91-182F5A357F3C}" destId="{E47EB061-158C-42D3-95BE-67190572E755}" srcOrd="11" destOrd="0" presId="urn:microsoft.com/office/officeart/2016/7/layout/RepeatingBendingProcessNew"/>
    <dgm:cxn modelId="{12C4B4B1-2FE6-4D9B-BB29-DC72F8C9A9F5}" type="presParOf" srcId="{E47EB061-158C-42D3-95BE-67190572E755}" destId="{DC9C4F81-0E5E-459C-B9CD-CDED95FF78E1}" srcOrd="0" destOrd="0" presId="urn:microsoft.com/office/officeart/2016/7/layout/RepeatingBendingProcessNew"/>
    <dgm:cxn modelId="{2E64B1CC-1355-4A43-8F94-8E985A49D7CC}" type="presParOf" srcId="{FFF8AA56-505C-4080-9A91-182F5A357F3C}" destId="{26E3CB6A-4176-4EB7-95F2-60A937CB9AAF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369081-39DC-4C33-B72D-45EA511B4D55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C2BD5E39-E6E0-4A5C-8371-E61EAD4B71E5}">
      <dgm:prSet phldrT="[Testo]" phldr="0" custT="1"/>
      <dgm:spPr/>
      <dgm:t>
        <a:bodyPr/>
        <a:lstStyle/>
        <a:p>
          <a:r>
            <a:rPr lang="it-IT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From Python &amp; </a:t>
          </a:r>
          <a:r>
            <a:rPr lang="it-IT" sz="2000" dirty="0" err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Streamlit</a:t>
          </a:r>
          <a:r>
            <a:rPr lang="it-IT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 to </a:t>
          </a:r>
          <a:r>
            <a:rPr lang="it-IT" sz="2000" dirty="0" err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TypeScript</a:t>
          </a:r>
          <a:r>
            <a:rPr lang="it-IT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 &amp; React</a:t>
          </a:r>
        </a:p>
      </dgm:t>
    </dgm:pt>
    <dgm:pt modelId="{3E156380-0CED-4258-96F1-B04F18C725AA}" type="parTrans" cxnId="{4CDFA786-3FA3-4ADF-A128-D2CD988E8FF2}">
      <dgm:prSet/>
      <dgm:spPr/>
      <dgm:t>
        <a:bodyPr/>
        <a:lstStyle/>
        <a:p>
          <a:endParaRPr lang="it-IT"/>
        </a:p>
      </dgm:t>
    </dgm:pt>
    <dgm:pt modelId="{0987D2E7-5E01-4BF0-8FEB-E7B0A35CF3FE}" type="sibTrans" cxnId="{4CDFA786-3FA3-4ADF-A128-D2CD988E8FF2}">
      <dgm:prSet/>
      <dgm:spPr/>
      <dgm:t>
        <a:bodyPr/>
        <a:lstStyle/>
        <a:p>
          <a:endParaRPr lang="it-IT"/>
        </a:p>
      </dgm:t>
    </dgm:pt>
    <dgm:pt modelId="{ABE6802D-876E-4382-9ACF-019032D7EEEF}">
      <dgm:prSet phldrT="[Testo]" phldr="0" custT="1"/>
      <dgm:spPr/>
      <dgm:t>
        <a:bodyPr/>
        <a:lstStyle/>
        <a:p>
          <a:r>
            <a:rPr lang="it-IT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Google AI Studio</a:t>
          </a:r>
        </a:p>
      </dgm:t>
    </dgm:pt>
    <dgm:pt modelId="{20F68ECF-BAE1-4FC5-AAD3-12F7A7BBA46F}" type="parTrans" cxnId="{0D0B0269-E194-49D6-933D-76415AAEE3F8}">
      <dgm:prSet/>
      <dgm:spPr/>
      <dgm:t>
        <a:bodyPr/>
        <a:lstStyle/>
        <a:p>
          <a:endParaRPr lang="it-IT"/>
        </a:p>
      </dgm:t>
    </dgm:pt>
    <dgm:pt modelId="{9B422669-C50C-4990-B69A-E0BD6ACA8124}" type="sibTrans" cxnId="{0D0B0269-E194-49D6-933D-76415AAEE3F8}">
      <dgm:prSet/>
      <dgm:spPr/>
      <dgm:t>
        <a:bodyPr/>
        <a:lstStyle/>
        <a:p>
          <a:endParaRPr lang="it-IT"/>
        </a:p>
      </dgm:t>
    </dgm:pt>
    <dgm:pt modelId="{28D3D9CC-1FAD-4DC8-9120-58A9836F0F12}">
      <dgm:prSet phldrT="[Testo]" phldr="0" custT="1"/>
      <dgm:spPr/>
      <dgm:t>
        <a:bodyPr/>
        <a:lstStyle/>
        <a:p>
          <a:r>
            <a:rPr lang="it-IT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Gemini</a:t>
          </a:r>
        </a:p>
      </dgm:t>
    </dgm:pt>
    <dgm:pt modelId="{B5E2CB08-7A9F-4453-A950-6B43A93EF04C}" type="parTrans" cxnId="{79DBF2D0-9EFE-4B03-B9B0-463386ED6533}">
      <dgm:prSet/>
      <dgm:spPr/>
      <dgm:t>
        <a:bodyPr/>
        <a:lstStyle/>
        <a:p>
          <a:endParaRPr lang="it-IT"/>
        </a:p>
      </dgm:t>
    </dgm:pt>
    <dgm:pt modelId="{3F41BC7F-301D-410B-BF7D-2F634EDAB525}" type="sibTrans" cxnId="{79DBF2D0-9EFE-4B03-B9B0-463386ED6533}">
      <dgm:prSet/>
      <dgm:spPr/>
      <dgm:t>
        <a:bodyPr/>
        <a:lstStyle/>
        <a:p>
          <a:endParaRPr lang="it-IT"/>
        </a:p>
      </dgm:t>
    </dgm:pt>
    <dgm:pt modelId="{072B45ED-4C2E-4A35-BE99-FAFA7F6F128F}">
      <dgm:prSet phldrT="[Testo]" phldr="0" custT="1"/>
      <dgm:spPr/>
      <dgm:t>
        <a:bodyPr/>
        <a:lstStyle/>
        <a:p>
          <a:r>
            <a:rPr lang="it-IT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Google Cloud</a:t>
          </a:r>
        </a:p>
      </dgm:t>
    </dgm:pt>
    <dgm:pt modelId="{E89055F2-6C90-4AE7-9488-83A033B4D8CC}" type="parTrans" cxnId="{4F5AD921-EDE1-4BD6-A1E3-F4B324E54CDC}">
      <dgm:prSet/>
      <dgm:spPr/>
      <dgm:t>
        <a:bodyPr/>
        <a:lstStyle/>
        <a:p>
          <a:endParaRPr lang="it-IT"/>
        </a:p>
      </dgm:t>
    </dgm:pt>
    <dgm:pt modelId="{857E8ADD-F579-4B5D-959C-DD39BDB24D94}" type="sibTrans" cxnId="{4F5AD921-EDE1-4BD6-A1E3-F4B324E54CDC}">
      <dgm:prSet/>
      <dgm:spPr/>
      <dgm:t>
        <a:bodyPr/>
        <a:lstStyle/>
        <a:p>
          <a:endParaRPr lang="it-IT"/>
        </a:p>
      </dgm:t>
    </dgm:pt>
    <dgm:pt modelId="{BF1125ED-0CDE-49FD-BEBA-D69E30E6592E}" type="pres">
      <dgm:prSet presAssocID="{B0369081-39DC-4C33-B72D-45EA511B4D55}" presName="cycle" presStyleCnt="0">
        <dgm:presLayoutVars>
          <dgm:dir/>
          <dgm:resizeHandles val="exact"/>
        </dgm:presLayoutVars>
      </dgm:prSet>
      <dgm:spPr/>
    </dgm:pt>
    <dgm:pt modelId="{AF3B0B97-8914-49D8-89EA-DB5A8A140E9A}" type="pres">
      <dgm:prSet presAssocID="{C2BD5E39-E6E0-4A5C-8371-E61EAD4B71E5}" presName="dummy" presStyleCnt="0"/>
      <dgm:spPr/>
    </dgm:pt>
    <dgm:pt modelId="{D477248E-E048-491C-96DD-6C996EB21B89}" type="pres">
      <dgm:prSet presAssocID="{C2BD5E39-E6E0-4A5C-8371-E61EAD4B71E5}" presName="node" presStyleLbl="revTx" presStyleIdx="0" presStyleCnt="4">
        <dgm:presLayoutVars>
          <dgm:bulletEnabled val="1"/>
        </dgm:presLayoutVars>
      </dgm:prSet>
      <dgm:spPr/>
    </dgm:pt>
    <dgm:pt modelId="{F6CA5227-2941-464D-9505-03A6D7183B4D}" type="pres">
      <dgm:prSet presAssocID="{0987D2E7-5E01-4BF0-8FEB-E7B0A35CF3FE}" presName="sibTrans" presStyleLbl="node1" presStyleIdx="0" presStyleCnt="4"/>
      <dgm:spPr/>
    </dgm:pt>
    <dgm:pt modelId="{69AB922D-100B-4568-8356-A8F252287420}" type="pres">
      <dgm:prSet presAssocID="{ABE6802D-876E-4382-9ACF-019032D7EEEF}" presName="dummy" presStyleCnt="0"/>
      <dgm:spPr/>
    </dgm:pt>
    <dgm:pt modelId="{24779978-5AD4-4B30-B8DE-934DBB04470D}" type="pres">
      <dgm:prSet presAssocID="{ABE6802D-876E-4382-9ACF-019032D7EEEF}" presName="node" presStyleLbl="revTx" presStyleIdx="1" presStyleCnt="4">
        <dgm:presLayoutVars>
          <dgm:bulletEnabled val="1"/>
        </dgm:presLayoutVars>
      </dgm:prSet>
      <dgm:spPr/>
    </dgm:pt>
    <dgm:pt modelId="{0CDE7BAD-3E7B-4A3A-851B-00C413D5417A}" type="pres">
      <dgm:prSet presAssocID="{9B422669-C50C-4990-B69A-E0BD6ACA8124}" presName="sibTrans" presStyleLbl="node1" presStyleIdx="1" presStyleCnt="4"/>
      <dgm:spPr/>
    </dgm:pt>
    <dgm:pt modelId="{9DCE00BD-92B3-4597-A5A4-8104188AEBCA}" type="pres">
      <dgm:prSet presAssocID="{28D3D9CC-1FAD-4DC8-9120-58A9836F0F12}" presName="dummy" presStyleCnt="0"/>
      <dgm:spPr/>
    </dgm:pt>
    <dgm:pt modelId="{2DE1A8C6-33DE-4123-B975-9DD6DC126547}" type="pres">
      <dgm:prSet presAssocID="{28D3D9CC-1FAD-4DC8-9120-58A9836F0F12}" presName="node" presStyleLbl="revTx" presStyleIdx="2" presStyleCnt="4">
        <dgm:presLayoutVars>
          <dgm:bulletEnabled val="1"/>
        </dgm:presLayoutVars>
      </dgm:prSet>
      <dgm:spPr/>
    </dgm:pt>
    <dgm:pt modelId="{47567420-03D7-4DB8-83FB-45A90B6C9B1A}" type="pres">
      <dgm:prSet presAssocID="{3F41BC7F-301D-410B-BF7D-2F634EDAB525}" presName="sibTrans" presStyleLbl="node1" presStyleIdx="2" presStyleCnt="4"/>
      <dgm:spPr/>
    </dgm:pt>
    <dgm:pt modelId="{4A503A48-86D9-4C5E-A168-5EF0A0961F37}" type="pres">
      <dgm:prSet presAssocID="{072B45ED-4C2E-4A35-BE99-FAFA7F6F128F}" presName="dummy" presStyleCnt="0"/>
      <dgm:spPr/>
    </dgm:pt>
    <dgm:pt modelId="{7AA22A85-AF5E-4D48-B58B-BB3BD265216A}" type="pres">
      <dgm:prSet presAssocID="{072B45ED-4C2E-4A35-BE99-FAFA7F6F128F}" presName="node" presStyleLbl="revTx" presStyleIdx="3" presStyleCnt="4">
        <dgm:presLayoutVars>
          <dgm:bulletEnabled val="1"/>
        </dgm:presLayoutVars>
      </dgm:prSet>
      <dgm:spPr/>
    </dgm:pt>
    <dgm:pt modelId="{5892630E-21D4-4C73-A69B-71E7AD6A205E}" type="pres">
      <dgm:prSet presAssocID="{857E8ADD-F579-4B5D-959C-DD39BDB24D94}" presName="sibTrans" presStyleLbl="node1" presStyleIdx="3" presStyleCnt="4"/>
      <dgm:spPr/>
    </dgm:pt>
  </dgm:ptLst>
  <dgm:cxnLst>
    <dgm:cxn modelId="{4FEA900E-6890-45DF-8856-3BE50BF4F628}" type="presOf" srcId="{072B45ED-4C2E-4A35-BE99-FAFA7F6F128F}" destId="{7AA22A85-AF5E-4D48-B58B-BB3BD265216A}" srcOrd="0" destOrd="0" presId="urn:microsoft.com/office/officeart/2005/8/layout/cycle1"/>
    <dgm:cxn modelId="{4F5AD921-EDE1-4BD6-A1E3-F4B324E54CDC}" srcId="{B0369081-39DC-4C33-B72D-45EA511B4D55}" destId="{072B45ED-4C2E-4A35-BE99-FAFA7F6F128F}" srcOrd="3" destOrd="0" parTransId="{E89055F2-6C90-4AE7-9488-83A033B4D8CC}" sibTransId="{857E8ADD-F579-4B5D-959C-DD39BDB24D94}"/>
    <dgm:cxn modelId="{0735993E-86CC-4EAC-A4F4-B67A67171C1B}" type="presOf" srcId="{9B422669-C50C-4990-B69A-E0BD6ACA8124}" destId="{0CDE7BAD-3E7B-4A3A-851B-00C413D5417A}" srcOrd="0" destOrd="0" presId="urn:microsoft.com/office/officeart/2005/8/layout/cycle1"/>
    <dgm:cxn modelId="{E07AD95B-3549-4216-B990-03C7F8E1F0B1}" type="presOf" srcId="{857E8ADD-F579-4B5D-959C-DD39BDB24D94}" destId="{5892630E-21D4-4C73-A69B-71E7AD6A205E}" srcOrd="0" destOrd="0" presId="urn:microsoft.com/office/officeart/2005/8/layout/cycle1"/>
    <dgm:cxn modelId="{97BBB944-AD70-42B7-99F2-6546F3E6F8E4}" type="presOf" srcId="{ABE6802D-876E-4382-9ACF-019032D7EEEF}" destId="{24779978-5AD4-4B30-B8DE-934DBB04470D}" srcOrd="0" destOrd="0" presId="urn:microsoft.com/office/officeart/2005/8/layout/cycle1"/>
    <dgm:cxn modelId="{0D0B0269-E194-49D6-933D-76415AAEE3F8}" srcId="{B0369081-39DC-4C33-B72D-45EA511B4D55}" destId="{ABE6802D-876E-4382-9ACF-019032D7EEEF}" srcOrd="1" destOrd="0" parTransId="{20F68ECF-BAE1-4FC5-AAD3-12F7A7BBA46F}" sibTransId="{9B422669-C50C-4990-B69A-E0BD6ACA8124}"/>
    <dgm:cxn modelId="{50965771-37DB-4857-B064-5D95FA941FF2}" type="presOf" srcId="{0987D2E7-5E01-4BF0-8FEB-E7B0A35CF3FE}" destId="{F6CA5227-2941-464D-9505-03A6D7183B4D}" srcOrd="0" destOrd="0" presId="urn:microsoft.com/office/officeart/2005/8/layout/cycle1"/>
    <dgm:cxn modelId="{379DAF76-D4A1-4E5F-9954-0D6C332862FF}" type="presOf" srcId="{B0369081-39DC-4C33-B72D-45EA511B4D55}" destId="{BF1125ED-0CDE-49FD-BEBA-D69E30E6592E}" srcOrd="0" destOrd="0" presId="urn:microsoft.com/office/officeart/2005/8/layout/cycle1"/>
    <dgm:cxn modelId="{4CDFA786-3FA3-4ADF-A128-D2CD988E8FF2}" srcId="{B0369081-39DC-4C33-B72D-45EA511B4D55}" destId="{C2BD5E39-E6E0-4A5C-8371-E61EAD4B71E5}" srcOrd="0" destOrd="0" parTransId="{3E156380-0CED-4258-96F1-B04F18C725AA}" sibTransId="{0987D2E7-5E01-4BF0-8FEB-E7B0A35CF3FE}"/>
    <dgm:cxn modelId="{B637229C-B55E-4D84-97CA-E5227CEFDFCE}" type="presOf" srcId="{3F41BC7F-301D-410B-BF7D-2F634EDAB525}" destId="{47567420-03D7-4DB8-83FB-45A90B6C9B1A}" srcOrd="0" destOrd="0" presId="urn:microsoft.com/office/officeart/2005/8/layout/cycle1"/>
    <dgm:cxn modelId="{5F6A94A8-B0B5-41A5-8E1F-066F93319234}" type="presOf" srcId="{28D3D9CC-1FAD-4DC8-9120-58A9836F0F12}" destId="{2DE1A8C6-33DE-4123-B975-9DD6DC126547}" srcOrd="0" destOrd="0" presId="urn:microsoft.com/office/officeart/2005/8/layout/cycle1"/>
    <dgm:cxn modelId="{79DBF2D0-9EFE-4B03-B9B0-463386ED6533}" srcId="{B0369081-39DC-4C33-B72D-45EA511B4D55}" destId="{28D3D9CC-1FAD-4DC8-9120-58A9836F0F12}" srcOrd="2" destOrd="0" parTransId="{B5E2CB08-7A9F-4453-A950-6B43A93EF04C}" sibTransId="{3F41BC7F-301D-410B-BF7D-2F634EDAB525}"/>
    <dgm:cxn modelId="{3909B6F9-9383-4623-8A8F-BB3D220775D0}" type="presOf" srcId="{C2BD5E39-E6E0-4A5C-8371-E61EAD4B71E5}" destId="{D477248E-E048-491C-96DD-6C996EB21B89}" srcOrd="0" destOrd="0" presId="urn:microsoft.com/office/officeart/2005/8/layout/cycle1"/>
    <dgm:cxn modelId="{17A4D07F-9A5B-4525-B1DF-4F460ADA6969}" type="presParOf" srcId="{BF1125ED-0CDE-49FD-BEBA-D69E30E6592E}" destId="{AF3B0B97-8914-49D8-89EA-DB5A8A140E9A}" srcOrd="0" destOrd="0" presId="urn:microsoft.com/office/officeart/2005/8/layout/cycle1"/>
    <dgm:cxn modelId="{9F2B18BC-BDA8-4832-BCAA-ED160E6F5797}" type="presParOf" srcId="{BF1125ED-0CDE-49FD-BEBA-D69E30E6592E}" destId="{D477248E-E048-491C-96DD-6C996EB21B89}" srcOrd="1" destOrd="0" presId="urn:microsoft.com/office/officeart/2005/8/layout/cycle1"/>
    <dgm:cxn modelId="{07D0F99F-1C40-4C04-B3A1-D00322879C2C}" type="presParOf" srcId="{BF1125ED-0CDE-49FD-BEBA-D69E30E6592E}" destId="{F6CA5227-2941-464D-9505-03A6D7183B4D}" srcOrd="2" destOrd="0" presId="urn:microsoft.com/office/officeart/2005/8/layout/cycle1"/>
    <dgm:cxn modelId="{70695D8B-95EA-4A5E-9E24-1E0BF5C863C5}" type="presParOf" srcId="{BF1125ED-0CDE-49FD-BEBA-D69E30E6592E}" destId="{69AB922D-100B-4568-8356-A8F252287420}" srcOrd="3" destOrd="0" presId="urn:microsoft.com/office/officeart/2005/8/layout/cycle1"/>
    <dgm:cxn modelId="{7B8665C8-1688-48D6-9ED7-955E1D9B211A}" type="presParOf" srcId="{BF1125ED-0CDE-49FD-BEBA-D69E30E6592E}" destId="{24779978-5AD4-4B30-B8DE-934DBB04470D}" srcOrd="4" destOrd="0" presId="urn:microsoft.com/office/officeart/2005/8/layout/cycle1"/>
    <dgm:cxn modelId="{105E0B3A-4A58-4491-9519-CD2B9383D8A3}" type="presParOf" srcId="{BF1125ED-0CDE-49FD-BEBA-D69E30E6592E}" destId="{0CDE7BAD-3E7B-4A3A-851B-00C413D5417A}" srcOrd="5" destOrd="0" presId="urn:microsoft.com/office/officeart/2005/8/layout/cycle1"/>
    <dgm:cxn modelId="{FD1B068D-0E3F-40B8-BC4F-797A6D8D7F48}" type="presParOf" srcId="{BF1125ED-0CDE-49FD-BEBA-D69E30E6592E}" destId="{9DCE00BD-92B3-4597-A5A4-8104188AEBCA}" srcOrd="6" destOrd="0" presId="urn:microsoft.com/office/officeart/2005/8/layout/cycle1"/>
    <dgm:cxn modelId="{5BC948A7-DE62-4CFB-846F-7DCD9D98E4D2}" type="presParOf" srcId="{BF1125ED-0CDE-49FD-BEBA-D69E30E6592E}" destId="{2DE1A8C6-33DE-4123-B975-9DD6DC126547}" srcOrd="7" destOrd="0" presId="urn:microsoft.com/office/officeart/2005/8/layout/cycle1"/>
    <dgm:cxn modelId="{E1A02DCD-460F-426E-881C-F2A36C4F062F}" type="presParOf" srcId="{BF1125ED-0CDE-49FD-BEBA-D69E30E6592E}" destId="{47567420-03D7-4DB8-83FB-45A90B6C9B1A}" srcOrd="8" destOrd="0" presId="urn:microsoft.com/office/officeart/2005/8/layout/cycle1"/>
    <dgm:cxn modelId="{1757E556-78C3-4332-B7A0-98D52E1EFB72}" type="presParOf" srcId="{BF1125ED-0CDE-49FD-BEBA-D69E30E6592E}" destId="{4A503A48-86D9-4C5E-A168-5EF0A0961F37}" srcOrd="9" destOrd="0" presId="urn:microsoft.com/office/officeart/2005/8/layout/cycle1"/>
    <dgm:cxn modelId="{95383429-A7C2-4E49-A53B-8D9D06BD4F11}" type="presParOf" srcId="{BF1125ED-0CDE-49FD-BEBA-D69E30E6592E}" destId="{7AA22A85-AF5E-4D48-B58B-BB3BD265216A}" srcOrd="10" destOrd="0" presId="urn:microsoft.com/office/officeart/2005/8/layout/cycle1"/>
    <dgm:cxn modelId="{12B4089F-6CF2-4F38-9986-C5033504AC61}" type="presParOf" srcId="{BF1125ED-0CDE-49FD-BEBA-D69E30E6592E}" destId="{5892630E-21D4-4C73-A69B-71E7AD6A205E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1B3832-777B-4664-98DD-342209CBA0D0}">
      <dsp:nvSpPr>
        <dsp:cNvPr id="0" name=""/>
        <dsp:cNvSpPr/>
      </dsp:nvSpPr>
      <dsp:spPr>
        <a:xfrm>
          <a:off x="224153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1242976"/>
        <a:ext cx="25774" cy="5154"/>
      </dsp:txXfrm>
    </dsp:sp>
    <dsp:sp modelId="{201F8A80-73F1-4243-A382-8480CC97A4C9}">
      <dsp:nvSpPr>
        <dsp:cNvPr id="0" name=""/>
        <dsp:cNvSpPr/>
      </dsp:nvSpPr>
      <dsp:spPr>
        <a:xfrm>
          <a:off x="2092" y="573182"/>
          <a:ext cx="2241239" cy="134474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 err="1">
              <a:latin typeface="Verdana" panose="020B0604030504040204" pitchFamily="34" charset="0"/>
              <a:ea typeface="Verdana" panose="020B0604030504040204" pitchFamily="34" charset="0"/>
            </a:rPr>
            <a:t>Motivations</a:t>
          </a:r>
          <a:endParaRPr lang="en-US" sz="20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2092" y="573182"/>
        <a:ext cx="2241239" cy="1344743"/>
      </dsp:txXfrm>
    </dsp:sp>
    <dsp:sp modelId="{7F497B0A-B0D4-405B-94D6-AC164BA2C471}">
      <dsp:nvSpPr>
        <dsp:cNvPr id="0" name=""/>
        <dsp:cNvSpPr/>
      </dsp:nvSpPr>
      <dsp:spPr>
        <a:xfrm>
          <a:off x="4998257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1242976"/>
        <a:ext cx="25774" cy="5154"/>
      </dsp:txXfrm>
    </dsp:sp>
    <dsp:sp modelId="{8E66330E-56AE-4481-BAEF-162BF844A328}">
      <dsp:nvSpPr>
        <dsp:cNvPr id="0" name=""/>
        <dsp:cNvSpPr/>
      </dsp:nvSpPr>
      <dsp:spPr>
        <a:xfrm>
          <a:off x="2758817" y="573182"/>
          <a:ext cx="2241239" cy="134474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>
              <a:latin typeface="Verdana" panose="020B0604030504040204" pitchFamily="34" charset="0"/>
              <a:ea typeface="Verdana" panose="020B0604030504040204" pitchFamily="34" charset="0"/>
            </a:rPr>
            <a:t>Use case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 err="1">
              <a:latin typeface="Verdana" panose="020B0604030504040204" pitchFamily="34" charset="0"/>
              <a:ea typeface="Verdana" panose="020B0604030504040204" pitchFamily="34" charset="0"/>
            </a:rPr>
            <a:t>introduction</a:t>
          </a:r>
          <a:endParaRPr lang="en-US" sz="20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2758817" y="573182"/>
        <a:ext cx="2241239" cy="1344743"/>
      </dsp:txXfrm>
    </dsp:sp>
    <dsp:sp modelId="{121CE1CD-D879-4C69-B6AD-A3439B9466F8}">
      <dsp:nvSpPr>
        <dsp:cNvPr id="0" name=""/>
        <dsp:cNvSpPr/>
      </dsp:nvSpPr>
      <dsp:spPr>
        <a:xfrm>
          <a:off x="775498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4537" y="1242976"/>
        <a:ext cx="25774" cy="5154"/>
      </dsp:txXfrm>
    </dsp:sp>
    <dsp:sp modelId="{9FECA863-BEE8-4F18-A685-F5674F292C96}">
      <dsp:nvSpPr>
        <dsp:cNvPr id="0" name=""/>
        <dsp:cNvSpPr/>
      </dsp:nvSpPr>
      <dsp:spPr>
        <a:xfrm>
          <a:off x="5515542" y="573182"/>
          <a:ext cx="2241239" cy="134474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Verdana" panose="020B0604030504040204" pitchFamily="34" charset="0"/>
              <a:ea typeface="Verdana" panose="020B0604030504040204" pitchFamily="34" charset="0"/>
            </a:rPr>
            <a:t>From Transformers to Vision Transformers</a:t>
          </a:r>
        </a:p>
      </dsp:txBody>
      <dsp:txXfrm>
        <a:off x="5515542" y="573182"/>
        <a:ext cx="2241239" cy="1344743"/>
      </dsp:txXfrm>
    </dsp:sp>
    <dsp:sp modelId="{9CF87F21-4E84-4DEB-8740-9318343F0921}">
      <dsp:nvSpPr>
        <dsp:cNvPr id="0" name=""/>
        <dsp:cNvSpPr/>
      </dsp:nvSpPr>
      <dsp:spPr>
        <a:xfrm>
          <a:off x="1122712" y="1916126"/>
          <a:ext cx="8270175" cy="484885"/>
        </a:xfrm>
        <a:custGeom>
          <a:avLst/>
          <a:gdLst/>
          <a:ahLst/>
          <a:cxnLst/>
          <a:rect l="0" t="0" r="0" b="0"/>
          <a:pathLst>
            <a:path>
              <a:moveTo>
                <a:pt x="8270175" y="0"/>
              </a:moveTo>
              <a:lnTo>
                <a:pt x="8270175" y="259542"/>
              </a:lnTo>
              <a:lnTo>
                <a:pt x="0" y="259542"/>
              </a:lnTo>
              <a:lnTo>
                <a:pt x="0" y="48488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0644" y="2155991"/>
        <a:ext cx="414311" cy="5154"/>
      </dsp:txXfrm>
    </dsp:sp>
    <dsp:sp modelId="{219A7943-8356-40A7-94A7-73BC56280FD3}">
      <dsp:nvSpPr>
        <dsp:cNvPr id="0" name=""/>
        <dsp:cNvSpPr/>
      </dsp:nvSpPr>
      <dsp:spPr>
        <a:xfrm>
          <a:off x="8272267" y="573182"/>
          <a:ext cx="2241239" cy="134474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Verdana" panose="020B0604030504040204" pitchFamily="34" charset="0"/>
              <a:ea typeface="Verdana" panose="020B0604030504040204" pitchFamily="34" charset="0"/>
            </a:rPr>
            <a:t>Agentic AI</a:t>
          </a:r>
        </a:p>
      </dsp:txBody>
      <dsp:txXfrm>
        <a:off x="8272267" y="573182"/>
        <a:ext cx="2241239" cy="1344743"/>
      </dsp:txXfrm>
    </dsp:sp>
    <dsp:sp modelId="{6FD2619B-BC17-430A-8066-B474BB25D64B}">
      <dsp:nvSpPr>
        <dsp:cNvPr id="0" name=""/>
        <dsp:cNvSpPr/>
      </dsp:nvSpPr>
      <dsp:spPr>
        <a:xfrm>
          <a:off x="2241532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3103206"/>
        <a:ext cx="25774" cy="5154"/>
      </dsp:txXfrm>
    </dsp:sp>
    <dsp:sp modelId="{0DCEE678-3CBB-478F-A108-8CAFFB76E5CC}">
      <dsp:nvSpPr>
        <dsp:cNvPr id="0" name=""/>
        <dsp:cNvSpPr/>
      </dsp:nvSpPr>
      <dsp:spPr>
        <a:xfrm>
          <a:off x="2092" y="2433411"/>
          <a:ext cx="2241239" cy="1344743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Verdana" panose="020B0604030504040204" pitchFamily="34" charset="0"/>
              <a:ea typeface="Verdana" panose="020B0604030504040204" pitchFamily="34" charset="0"/>
            </a:rPr>
            <a:t>A Multi-Agent System from Scratch for the Car Damage Evaluation</a:t>
          </a:r>
        </a:p>
      </dsp:txBody>
      <dsp:txXfrm>
        <a:off x="2092" y="2433411"/>
        <a:ext cx="2241239" cy="1344743"/>
      </dsp:txXfrm>
    </dsp:sp>
    <dsp:sp modelId="{E47EB061-158C-42D3-95BE-67190572E755}">
      <dsp:nvSpPr>
        <dsp:cNvPr id="0" name=""/>
        <dsp:cNvSpPr/>
      </dsp:nvSpPr>
      <dsp:spPr>
        <a:xfrm>
          <a:off x="4998257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3103206"/>
        <a:ext cx="25774" cy="5154"/>
      </dsp:txXfrm>
    </dsp:sp>
    <dsp:sp modelId="{FBC939B4-3C56-4E7C-A9F2-3C2ED1D40E7D}">
      <dsp:nvSpPr>
        <dsp:cNvPr id="0" name=""/>
        <dsp:cNvSpPr/>
      </dsp:nvSpPr>
      <dsp:spPr>
        <a:xfrm>
          <a:off x="2758817" y="2433411"/>
          <a:ext cx="2241239" cy="134474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Verdana" panose="020B0604030504040204" pitchFamily="34" charset="0"/>
              <a:ea typeface="Verdana" panose="020B0604030504040204" pitchFamily="34" charset="0"/>
            </a:rPr>
            <a:t>Comparison &amp; Challenges</a:t>
          </a:r>
        </a:p>
      </dsp:txBody>
      <dsp:txXfrm>
        <a:off x="2758817" y="2433411"/>
        <a:ext cx="2241239" cy="1344743"/>
      </dsp:txXfrm>
    </dsp:sp>
    <dsp:sp modelId="{26E3CB6A-4176-4EB7-95F2-60A937CB9AAF}">
      <dsp:nvSpPr>
        <dsp:cNvPr id="0" name=""/>
        <dsp:cNvSpPr/>
      </dsp:nvSpPr>
      <dsp:spPr>
        <a:xfrm>
          <a:off x="5515542" y="2433411"/>
          <a:ext cx="2241239" cy="134474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Conclusions</a:t>
          </a:r>
        </a:p>
      </dsp:txBody>
      <dsp:txXfrm>
        <a:off x="5515542" y="2433411"/>
        <a:ext cx="2241239" cy="13447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77248E-E048-491C-96DD-6C996EB21B89}">
      <dsp:nvSpPr>
        <dsp:cNvPr id="0" name=""/>
        <dsp:cNvSpPr/>
      </dsp:nvSpPr>
      <dsp:spPr>
        <a:xfrm>
          <a:off x="4735144" y="121283"/>
          <a:ext cx="1916906" cy="1916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From Python &amp; </a:t>
          </a:r>
          <a:r>
            <a:rPr lang="it-IT" sz="2000" kern="1200" dirty="0" err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Streamlit</a:t>
          </a:r>
          <a:r>
            <a:rPr lang="it-IT" sz="2000" kern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 to </a:t>
          </a:r>
          <a:r>
            <a:rPr lang="it-IT" sz="2000" kern="1200" dirty="0" err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TypeScript</a:t>
          </a:r>
          <a:r>
            <a:rPr lang="it-IT" sz="2000" kern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 &amp; React</a:t>
          </a:r>
        </a:p>
      </dsp:txBody>
      <dsp:txXfrm>
        <a:off x="4735144" y="121283"/>
        <a:ext cx="1916906" cy="1916906"/>
      </dsp:txXfrm>
    </dsp:sp>
    <dsp:sp modelId="{F6CA5227-2941-464D-9505-03A6D7183B4D}">
      <dsp:nvSpPr>
        <dsp:cNvPr id="0" name=""/>
        <dsp:cNvSpPr/>
      </dsp:nvSpPr>
      <dsp:spPr>
        <a:xfrm>
          <a:off x="1354454" y="-211"/>
          <a:ext cx="5419090" cy="5419090"/>
        </a:xfrm>
        <a:prstGeom prst="circularArrow">
          <a:avLst>
            <a:gd name="adj1" fmla="val 6898"/>
            <a:gd name="adj2" fmla="val 465012"/>
            <a:gd name="adj3" fmla="val 550847"/>
            <a:gd name="adj4" fmla="val 20584141"/>
            <a:gd name="adj5" fmla="val 804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779978-5AD4-4B30-B8DE-934DBB04470D}">
      <dsp:nvSpPr>
        <dsp:cNvPr id="0" name=""/>
        <dsp:cNvSpPr/>
      </dsp:nvSpPr>
      <dsp:spPr>
        <a:xfrm>
          <a:off x="4735144" y="3380477"/>
          <a:ext cx="1916906" cy="1916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Google AI Studio</a:t>
          </a:r>
        </a:p>
      </dsp:txBody>
      <dsp:txXfrm>
        <a:off x="4735144" y="3380477"/>
        <a:ext cx="1916906" cy="1916906"/>
      </dsp:txXfrm>
    </dsp:sp>
    <dsp:sp modelId="{0CDE7BAD-3E7B-4A3A-851B-00C413D5417A}">
      <dsp:nvSpPr>
        <dsp:cNvPr id="0" name=""/>
        <dsp:cNvSpPr/>
      </dsp:nvSpPr>
      <dsp:spPr>
        <a:xfrm>
          <a:off x="1354454" y="-211"/>
          <a:ext cx="5419090" cy="5419090"/>
        </a:xfrm>
        <a:prstGeom prst="circularArrow">
          <a:avLst>
            <a:gd name="adj1" fmla="val 6898"/>
            <a:gd name="adj2" fmla="val 465012"/>
            <a:gd name="adj3" fmla="val 5950847"/>
            <a:gd name="adj4" fmla="val 4384141"/>
            <a:gd name="adj5" fmla="val 804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E1A8C6-33DE-4123-B975-9DD6DC126547}">
      <dsp:nvSpPr>
        <dsp:cNvPr id="0" name=""/>
        <dsp:cNvSpPr/>
      </dsp:nvSpPr>
      <dsp:spPr>
        <a:xfrm>
          <a:off x="1475949" y="3380477"/>
          <a:ext cx="1916906" cy="1916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Gemini</a:t>
          </a:r>
        </a:p>
      </dsp:txBody>
      <dsp:txXfrm>
        <a:off x="1475949" y="3380477"/>
        <a:ext cx="1916906" cy="1916906"/>
      </dsp:txXfrm>
    </dsp:sp>
    <dsp:sp modelId="{47567420-03D7-4DB8-83FB-45A90B6C9B1A}">
      <dsp:nvSpPr>
        <dsp:cNvPr id="0" name=""/>
        <dsp:cNvSpPr/>
      </dsp:nvSpPr>
      <dsp:spPr>
        <a:xfrm>
          <a:off x="1354454" y="-211"/>
          <a:ext cx="5419090" cy="5419090"/>
        </a:xfrm>
        <a:prstGeom prst="circularArrow">
          <a:avLst>
            <a:gd name="adj1" fmla="val 6898"/>
            <a:gd name="adj2" fmla="val 465012"/>
            <a:gd name="adj3" fmla="val 11350847"/>
            <a:gd name="adj4" fmla="val 9784141"/>
            <a:gd name="adj5" fmla="val 804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A22A85-AF5E-4D48-B58B-BB3BD265216A}">
      <dsp:nvSpPr>
        <dsp:cNvPr id="0" name=""/>
        <dsp:cNvSpPr/>
      </dsp:nvSpPr>
      <dsp:spPr>
        <a:xfrm>
          <a:off x="1475949" y="121283"/>
          <a:ext cx="1916906" cy="1916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Google Cloud</a:t>
          </a:r>
        </a:p>
      </dsp:txBody>
      <dsp:txXfrm>
        <a:off x="1475949" y="121283"/>
        <a:ext cx="1916906" cy="1916906"/>
      </dsp:txXfrm>
    </dsp:sp>
    <dsp:sp modelId="{5892630E-21D4-4C73-A69B-71E7AD6A205E}">
      <dsp:nvSpPr>
        <dsp:cNvPr id="0" name=""/>
        <dsp:cNvSpPr/>
      </dsp:nvSpPr>
      <dsp:spPr>
        <a:xfrm>
          <a:off x="1354454" y="-211"/>
          <a:ext cx="5419090" cy="5419090"/>
        </a:xfrm>
        <a:prstGeom prst="circularArrow">
          <a:avLst>
            <a:gd name="adj1" fmla="val 6898"/>
            <a:gd name="adj2" fmla="val 465012"/>
            <a:gd name="adj3" fmla="val 16750847"/>
            <a:gd name="adj4" fmla="val 15184141"/>
            <a:gd name="adj5" fmla="val 804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71D473-A98B-4C4C-95E0-4C423431E504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6BE71-9B98-4D91-A838-66D61DF3E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6564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A6BE71-9B98-4D91-A838-66D61DF3ED4A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1624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16741-881F-3F0A-F973-D4DAB88B5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991B396-41B6-0770-20B2-AE0F92F62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F18CC5F-1387-0124-E9F6-8BC9C2D79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52FE9EC-224E-07BC-1566-2420CF020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A6BE71-9B98-4D91-A838-66D61DF3ED4A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0174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54A5E-C7EB-8C8C-CD45-1FC159510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89672A1-72D7-22D5-975F-F0753949D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16F9F77-DEE5-497A-2208-5C6AB6AA4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9F30585-E19C-0733-1CA0-792B63A47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A6BE71-9B98-4D91-A838-66D61DF3ED4A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7757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26D0FA84-37ED-D991-0062-E052B0F6A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d9b2fd2a7_0_0:notes">
            <a:extLst>
              <a:ext uri="{FF2B5EF4-FFF2-40B4-BE49-F238E27FC236}">
                <a16:creationId xmlns:a16="http://schemas.microsoft.com/office/drawing/2014/main" id="{C2CE32DE-910E-8A8A-6367-59324F5B94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5d9b2fd2a7_0_0:notes">
            <a:extLst>
              <a:ext uri="{FF2B5EF4-FFF2-40B4-BE49-F238E27FC236}">
                <a16:creationId xmlns:a16="http://schemas.microsoft.com/office/drawing/2014/main" id="{556BB0A3-99FC-4564-AB18-B2542C399F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0590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7B5FABB5-40FA-2FAB-0A01-F6FAA0D96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d9b2fd2a7_0_0:notes">
            <a:extLst>
              <a:ext uri="{FF2B5EF4-FFF2-40B4-BE49-F238E27FC236}">
                <a16:creationId xmlns:a16="http://schemas.microsoft.com/office/drawing/2014/main" id="{83DAA068-6F59-E50D-AAC6-1FA0AE5D6C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5d9b2fd2a7_0_0:notes">
            <a:extLst>
              <a:ext uri="{FF2B5EF4-FFF2-40B4-BE49-F238E27FC236}">
                <a16:creationId xmlns:a16="http://schemas.microsoft.com/office/drawing/2014/main" id="{C393B051-55DF-EA66-6E7F-AC4E1D05CE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4889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A6BE71-9B98-4D91-A838-66D61DF3ED4A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9814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EFE2D8FE-5C85-88E6-7932-79320B67A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d9b2fd2a7_0_0:notes">
            <a:extLst>
              <a:ext uri="{FF2B5EF4-FFF2-40B4-BE49-F238E27FC236}">
                <a16:creationId xmlns:a16="http://schemas.microsoft.com/office/drawing/2014/main" id="{57870627-BF4A-B081-04BD-BD0B6D4C81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5d9b2fd2a7_0_0:notes">
            <a:extLst>
              <a:ext uri="{FF2B5EF4-FFF2-40B4-BE49-F238E27FC236}">
                <a16:creationId xmlns:a16="http://schemas.microsoft.com/office/drawing/2014/main" id="{426E430C-E879-C495-61F2-E32F2006D6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32100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9FD80E2F-910A-B253-0CB7-93E007D86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d9b2fd2a7_0_0:notes">
            <a:extLst>
              <a:ext uri="{FF2B5EF4-FFF2-40B4-BE49-F238E27FC236}">
                <a16:creationId xmlns:a16="http://schemas.microsoft.com/office/drawing/2014/main" id="{C2909FB2-0BA0-4A6A-6A8C-DCB2C09EF5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5d9b2fd2a7_0_0:notes">
            <a:extLst>
              <a:ext uri="{FF2B5EF4-FFF2-40B4-BE49-F238E27FC236}">
                <a16:creationId xmlns:a16="http://schemas.microsoft.com/office/drawing/2014/main" id="{6A8AAF86-BC6A-FC3C-7EA3-4E2648C816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9943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3B7861B8-5DF6-FE68-C67B-7CF1A25A4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d9b2fd2a7_0_0:notes">
            <a:extLst>
              <a:ext uri="{FF2B5EF4-FFF2-40B4-BE49-F238E27FC236}">
                <a16:creationId xmlns:a16="http://schemas.microsoft.com/office/drawing/2014/main" id="{A4F25FF3-5B42-A27A-9AD4-363AC82EDC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5d9b2fd2a7_0_0:notes">
            <a:extLst>
              <a:ext uri="{FF2B5EF4-FFF2-40B4-BE49-F238E27FC236}">
                <a16:creationId xmlns:a16="http://schemas.microsoft.com/office/drawing/2014/main" id="{88DC0C04-230E-3A2F-1F3B-F7A430C36E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780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086CE3-2443-C44C-1F23-473EBC534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CF8DA44-99B5-CC5B-D0E2-C435FC1D6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4FE497E-E1E7-DEEB-ED14-AE592942E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DBB6B-AE97-4AB7-9117-37970E0E7009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A22D2F7-4660-3DEC-1321-6D301C437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65B1EDE-33AC-BA3B-C2CB-8429B131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987-1C85-47AF-AFCA-ABE5CBD39F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606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7D5ACC-DF16-A431-A0DD-DE68BB068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7A415DA-35AE-7331-CA65-719B466B6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9C9A6A9-2547-AF48-C1F2-4B678183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DBB6B-AE97-4AB7-9117-37970E0E7009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D7B732F-A70A-32B8-7D44-8BB8CD1D8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71CCC7-5D65-DD0A-8F2E-0127B58F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987-1C85-47AF-AFCA-ABE5CBD39F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163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BA97D5-3E74-8EB3-8823-93E46FB02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53D0A9E-4722-3589-2AF6-CAC5F15F6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8361A43-BA4A-0C40-D4F9-76DBA0775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DBB6B-AE97-4AB7-9117-37970E0E7009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559B663-BD07-1F3F-AB45-517DE3B70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4760348-ED49-C1A9-6D7C-2D514ECD7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987-1C85-47AF-AFCA-ABE5CBD39F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8147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A57147-D629-AE83-0974-AFF9943A5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6389AC-AB61-1F39-3996-4DB4AB90BF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809351C-841D-B370-B17D-12862DCE8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D15D995-9B09-831A-A4A3-A601C61B5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DBB6B-AE97-4AB7-9117-37970E0E7009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B40319F-E559-5803-454B-9636467A5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B84CEEA-1B1C-1F3A-06CD-14BD6523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987-1C85-47AF-AFCA-ABE5CBD39F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6434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39F2A0-C0D1-6423-0621-5C2065C45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B543DDE-4DE5-5BED-DE0C-EE2D29069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A041341-1015-B7AB-6A1D-6E37FA5E3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2379632-287A-386E-E0D2-7AA127C88A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530DF60-286C-578D-8D4B-012B2B293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9D6C312-7968-9BD3-5F34-4513B4DD7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DBB6B-AE97-4AB7-9117-37970E0E7009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FC10082-3208-896D-EE65-9C51090A6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426A586-CD2A-C2FD-624D-3AB07827A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987-1C85-47AF-AFCA-ABE5CBD39F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7260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495B1C-60A5-C98A-C57A-AB9CEB560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9FC5C9B-DB8C-7812-D63D-0B9AC09CC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DBB6B-AE97-4AB7-9117-37970E0E7009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2B078F5-9607-AE87-E260-7700E3302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8DDF322-73F8-8CF5-2CB1-6F64B4BD8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987-1C85-47AF-AFCA-ABE5CBD39F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723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CBA985B-7E54-7D8C-C51F-6156C3F7E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DBB6B-AE97-4AB7-9117-37970E0E7009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E87EA5D-6FB5-E4D0-E991-78A5291BB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870389B-781F-48D9-0A07-445AD41E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987-1C85-47AF-AFCA-ABE5CBD39F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1286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9F94C2-F7BB-4A11-3A88-F544734DB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031406-7DDA-049E-7FB6-6A55D1E81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D3C584F-C51F-E9E1-1AEC-F0F99ADB9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A9095D9-DF4A-01CE-B8FA-D7C4D1A46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DBB6B-AE97-4AB7-9117-37970E0E7009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20CF025-69EA-CA5B-3E47-94A51D531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653B0D8-605F-434B-7D95-A2FA42D62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987-1C85-47AF-AFCA-ABE5CBD39F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9125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83820E-99BF-970D-0CAC-4CF8E8AAB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3DFFC17-2C67-6744-F8D4-969D7526FD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EDB0FB-A0DB-E7C0-2CF9-C09E509BC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62DCCB3-7907-53BF-2B40-4E5AF5AD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DBB6B-AE97-4AB7-9117-37970E0E7009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E3CACFE-6B56-03E8-0BF8-22947685A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5846155-89F6-7459-3BBC-587C7CB16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987-1C85-47AF-AFCA-ABE5CBD39F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995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9B64E2-3DCC-27E0-49F1-517C98B2C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13F1822-FB85-6584-76F5-52E0B6085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6695318-740F-DE13-9442-58BBFE731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DBB6B-AE97-4AB7-9117-37970E0E7009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7F478A1-C271-AF5C-0F62-091B16014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90CA69D-55A9-2FE9-381C-617C4E17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987-1C85-47AF-AFCA-ABE5CBD39F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658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A61D90B-1A56-D7FC-5C35-FC3CA44B57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B776E9B-219E-4EEA-6878-833402FB2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1BBD61B-FF0A-86F3-532B-2D8E2F203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DBB6B-AE97-4AB7-9117-37970E0E7009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7F19D37-7521-687A-3E9C-92D719A39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F47A61-1F64-A251-DEB9-80FD8E4B0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92987-1C85-47AF-AFCA-ABE5CBD39F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6893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282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FA1D15A-97C0-872A-34C5-42D35C46C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2341205-D71A-F68C-23DB-F7704F31B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D06DC8B-1E63-31A5-DD34-30AABF1317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DBB6B-AE97-4AB7-9117-37970E0E7009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B33DDE-4799-B17B-06E4-7245822CC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6544AF-C7D4-4066-2596-ECAA2DC39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292987-1C85-47AF-AFCA-ABE5CBD39F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3750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view/claudio-links/hom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moksh-dl-car-damage-detection.streamlit.app/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s://cardamagedetector.streamlit.app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ar-damage-detect.streamlit.app/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dorianssolicitors.com/dorians-solicitors-limited-blog/road-traffic-accident-claim-timeframe" TargetMode="External"/><Relationship Id="rId5" Type="http://schemas.openxmlformats.org/officeDocument/2006/relationships/hyperlink" Target="https://gagemathers.com/how-long-does-it-take-for-insurance-to-investigate-a-car-accident/" TargetMode="External"/><Relationship Id="rId4" Type="http://schemas.openxmlformats.org/officeDocument/2006/relationships/hyperlink" Target="https://mercedesblog.com/step-by-step-guide-to-car-insurance-claim-timelines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vidia.com/en-eu/glossary/large-language-models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gagemathers.com/how-long-does-it-take-for-insurance-to-investigate-a-car-accident/" TargetMode="External"/><Relationship Id="rId13" Type="http://schemas.openxmlformats.org/officeDocument/2006/relationships/hyperlink" Target="https://arxiv.org/abs/1706.03762" TargetMode="External"/><Relationship Id="rId3" Type="http://schemas.openxmlformats.org/officeDocument/2006/relationships/hyperlink" Target="https://multi-agent-car-damage-evaluation.ai.studio/" TargetMode="External"/><Relationship Id="rId7" Type="http://schemas.openxmlformats.org/officeDocument/2006/relationships/hyperlink" Target="https://mercedesblog.com/step-by-step-guide-to-car-insurance-claim-timelines/" TargetMode="External"/><Relationship Id="rId12" Type="http://schemas.openxmlformats.org/officeDocument/2006/relationships/hyperlink" Target="https://www.nvidia.com/en-us/glossary/large-language-models/" TargetMode="External"/><Relationship Id="rId17" Type="http://schemas.openxmlformats.org/officeDocument/2006/relationships/hyperlink" Target="https://arxiv.org/abs/2111.06091" TargetMode="External"/><Relationship Id="rId2" Type="http://schemas.openxmlformats.org/officeDocument/2006/relationships/notesSlide" Target="../notesSlides/notesSlide9.xml"/><Relationship Id="rId16" Type="http://schemas.openxmlformats.org/officeDocument/2006/relationships/hyperlink" Target="https://www.nvidia.com/en-us/glossary/vision-language-models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medium.com/@c.giancaterino/from-pixel-to-payouts-a-multi-agent-system-for-real-time-insurance-claims-processing-d647298c4eb8" TargetMode="External"/><Relationship Id="rId11" Type="http://schemas.openxmlformats.org/officeDocument/2006/relationships/hyperlink" Target="https://research.google/blog/transformer-a-novel-neural-network-architecture-for-language-understanding/" TargetMode="External"/><Relationship Id="rId5" Type="http://schemas.openxmlformats.org/officeDocument/2006/relationships/hyperlink" Target="https://www.kaggle.com/datasets/lplenka/coco-car-damage-detection-dataset" TargetMode="External"/><Relationship Id="rId15" Type="http://schemas.openxmlformats.org/officeDocument/2006/relationships/hyperlink" Target="https://arxiv.org/abs/2402.06196" TargetMode="External"/><Relationship Id="rId10" Type="http://schemas.openxmlformats.org/officeDocument/2006/relationships/hyperlink" Target="https://jalammar.github.io/illustrated-transformer/" TargetMode="External"/><Relationship Id="rId4" Type="http://schemas.openxmlformats.org/officeDocument/2006/relationships/hyperlink" Target="https://github.com/claudio1975/AI_Car_Damage_Evaluation" TargetMode="External"/><Relationship Id="rId9" Type="http://schemas.openxmlformats.org/officeDocument/2006/relationships/hyperlink" Target="https://www.dorianssolicitors.com/dorians-solicitors-limited-blog/road-traffic-accident-claim-timeframe" TargetMode="External"/><Relationship Id="rId14" Type="http://schemas.openxmlformats.org/officeDocument/2006/relationships/hyperlink" Target="https://arxiv.org/abs/2106.04554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@vipra_singh/ai-agents-introduction-part-1-fbec7edb857d" TargetMode="External"/><Relationship Id="rId3" Type="http://schemas.openxmlformats.org/officeDocument/2006/relationships/hyperlink" Target="https://arxiv.org/abs/2307.03254" TargetMode="External"/><Relationship Id="rId7" Type="http://schemas.openxmlformats.org/officeDocument/2006/relationships/hyperlink" Target="https://arxiv.org/abs/2210.03629?utm_source=chatgpt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manning.com/books/build-an-ai-agent-from-scratch" TargetMode="External"/><Relationship Id="rId5" Type="http://schemas.openxmlformats.org/officeDocument/2006/relationships/hyperlink" Target="https://openai.com/business/guides-and-resources/a-practical-guide-to-building-ai-agents/" TargetMode="External"/><Relationship Id="rId10" Type="http://schemas.openxmlformats.org/officeDocument/2006/relationships/hyperlink" Target="https://www.xceedance.com/wp-content/uploads/2023/08/Generative-AI-in-Insurance-A-Game-Changer.pdf" TargetMode="External"/><Relationship Id="rId4" Type="http://schemas.openxmlformats.org/officeDocument/2006/relationships/hyperlink" Target="https://www.nvidia.com/en-us/glossary/ai-agents/" TargetMode="External"/><Relationship Id="rId9" Type="http://schemas.openxmlformats.org/officeDocument/2006/relationships/hyperlink" Target="https://www.mckinsey.com/industries/financial-services/our-insights/the-future-of-ai-in-the-insurance-industry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build-relation/newsletter-follow?entityUrn=7035349778355884032" TargetMode="External"/><Relationship Id="rId2" Type="http://schemas.openxmlformats.org/officeDocument/2006/relationships/hyperlink" Target="https://www.linkedin.com/in/claudiods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hyperlink" Target="https://towardsinnovationlab.com/" TargetMode="External"/><Relationship Id="rId4" Type="http://schemas.openxmlformats.org/officeDocument/2006/relationships/hyperlink" Target="https://medium.com/@c.giancaterin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6">
            <a:extLst>
              <a:ext uri="{FF2B5EF4-FFF2-40B4-BE49-F238E27FC236}">
                <a16:creationId xmlns:a16="http://schemas.microsoft.com/office/drawing/2014/main" id="{41FCD357-D33E-20D8-FACD-0D0A912B0EDB}"/>
              </a:ext>
            </a:extLst>
          </p:cNvPr>
          <p:cNvSpPr txBox="1">
            <a:spLocks/>
          </p:cNvSpPr>
          <p:nvPr/>
        </p:nvSpPr>
        <p:spPr>
          <a:xfrm>
            <a:off x="1356852" y="3165705"/>
            <a:ext cx="9714271" cy="13473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From Photo to Payout: A Gemini-Native Multi-Agent System for Real-Time Auto Claims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753F82-2167-A955-EE99-8BED4D3BB164}"/>
              </a:ext>
            </a:extLst>
          </p:cNvPr>
          <p:cNvSpPr txBox="1"/>
          <p:nvPr/>
        </p:nvSpPr>
        <p:spPr>
          <a:xfrm>
            <a:off x="3390900" y="5910942"/>
            <a:ext cx="541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Claudio Giorgio Giancaterino</a:t>
            </a:r>
          </a:p>
          <a:p>
            <a:pPr algn="ctr"/>
            <a:r>
              <a:rPr lang="it-IT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10/10/2026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6D2FAC9-E867-C8CF-689A-D4827AB67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622" y="300727"/>
            <a:ext cx="2409825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960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2177143" y="304800"/>
            <a:ext cx="4494245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 dirty="0" err="1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MySelf</a:t>
            </a:r>
            <a:r>
              <a:rPr lang="it-IT" sz="3600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: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dirty="0" err="1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Actuary</a:t>
            </a:r>
            <a:r>
              <a:rPr lang="it-IT" sz="2400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 </a:t>
            </a:r>
            <a:r>
              <a:rPr lang="it-IT" sz="2400" dirty="0" err="1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during</a:t>
            </a:r>
            <a:r>
              <a:rPr lang="it-IT" sz="2400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 the day &amp;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AI Scientist in the free time</a:t>
            </a:r>
            <a:endParaRPr sz="2400" dirty="0">
              <a:solidFill>
                <a:schemeClr val="lt1"/>
              </a:solidFill>
              <a:latin typeface="Verdana" panose="020B0604030504040204" pitchFamily="34" charset="0"/>
              <a:ea typeface="Verdana" panose="020B0604030504040204" pitchFamily="34" charset="0"/>
              <a:cs typeface="Overlock"/>
              <a:sym typeface="Overlock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2593522" y="2363532"/>
            <a:ext cx="4018772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Reach Me: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MyLinks</a:t>
            </a:r>
            <a:endParaRPr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Overlock"/>
              <a:sym typeface="Overloc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08" name="Google Shape;108;p3"/>
          <p:cNvSpPr/>
          <p:nvPr/>
        </p:nvSpPr>
        <p:spPr>
          <a:xfrm rot="16200000">
            <a:off x="3066859" y="3567288"/>
            <a:ext cx="561195" cy="352425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C00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magine 2" descr="Immagine che contiene modello, punto, parole crociate&#10;&#10;Il contenuto generato dall'IA potrebbe non essere corretto.">
            <a:extLst>
              <a:ext uri="{FF2B5EF4-FFF2-40B4-BE49-F238E27FC236}">
                <a16:creationId xmlns:a16="http://schemas.microsoft.com/office/drawing/2014/main" id="{E128D9F8-E863-D383-5D11-969E238F45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428" y="4114800"/>
            <a:ext cx="2310644" cy="2273073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20281D45-E643-418B-F429-FAF5B9210F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929" y="270530"/>
            <a:ext cx="4825557" cy="60319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magine che contiene Policromia, verde, arte, natura&#10;&#10;Il contenuto generato dall'IA potrebbe non essere corretto.">
            <a:extLst>
              <a:ext uri="{FF2B5EF4-FFF2-40B4-BE49-F238E27FC236}">
                <a16:creationId xmlns:a16="http://schemas.microsoft.com/office/drawing/2014/main" id="{E491D94B-1895-15A6-007E-9B86378AC0A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363" r="2016" b="1606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5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79D4876-6D64-0277-D9AE-EF71FCE21DC0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Agenda</a:t>
            </a:r>
          </a:p>
        </p:txBody>
      </p:sp>
      <p:graphicFrame>
        <p:nvGraphicFramePr>
          <p:cNvPr id="6" name="CasellaDiTesto 3">
            <a:extLst>
              <a:ext uri="{FF2B5EF4-FFF2-40B4-BE49-F238E27FC236}">
                <a16:creationId xmlns:a16="http://schemas.microsoft.com/office/drawing/2014/main" id="{678AD149-91F7-E5C4-AAB0-6EEE25C234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796171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80590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D0230A-930A-1A33-C540-D0EE71193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6">
            <a:extLst>
              <a:ext uri="{FF2B5EF4-FFF2-40B4-BE49-F238E27FC236}">
                <a16:creationId xmlns:a16="http://schemas.microsoft.com/office/drawing/2014/main" id="{30A90090-8FDC-AB08-35A4-5CF94F9AFEC6}"/>
              </a:ext>
            </a:extLst>
          </p:cNvPr>
          <p:cNvSpPr txBox="1">
            <a:spLocks/>
          </p:cNvSpPr>
          <p:nvPr/>
        </p:nvSpPr>
        <p:spPr>
          <a:xfrm>
            <a:off x="2542412" y="277153"/>
            <a:ext cx="4928445" cy="7995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Motivations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E4102FF-1AE8-B009-626A-2E1D2A2D18C0}"/>
              </a:ext>
            </a:extLst>
          </p:cNvPr>
          <p:cNvSpPr txBox="1"/>
          <p:nvPr/>
        </p:nvSpPr>
        <p:spPr>
          <a:xfrm>
            <a:off x="7980557" y="2396814"/>
            <a:ext cx="4068000" cy="20643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alpha val="8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Improve the old idea of a car damage classifier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alpha val="8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Employ a Multi-Agent System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A5322CD-7B23-DFA0-308D-8586607075C0}"/>
              </a:ext>
            </a:extLst>
          </p:cNvPr>
          <p:cNvSpPr txBox="1"/>
          <p:nvPr/>
        </p:nvSpPr>
        <p:spPr>
          <a:xfrm>
            <a:off x="4309950" y="6303848"/>
            <a:ext cx="1937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it-IT" sz="1200" dirty="0">
                <a:latin typeface="Verdana" panose="020B0604030504040204" pitchFamily="34" charset="0"/>
                <a:ea typeface="Verdana" panose="020B0604030504040204" pitchFamily="34" charset="0"/>
              </a:rPr>
              <a:t>Google Nano Banana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7766514-AE85-4991-BA9D-DB69C6F84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2" y="1627072"/>
            <a:ext cx="7882586" cy="467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197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F28EFA-C1F3-379C-FF39-287AC7A50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229C34F1-53F6-352C-7B49-56E904110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383" y="1974605"/>
            <a:ext cx="2877956" cy="420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3125FF6F-113D-5D4B-58CC-80DDE9137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2976" y="1362860"/>
            <a:ext cx="2531709" cy="4177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8DE8941C-2BA4-FB02-4D68-F1BAC367A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9322" y="293913"/>
            <a:ext cx="2877956" cy="5812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361E6C1B-74EF-10F4-7D9E-3DDE3B0950EA}"/>
              </a:ext>
            </a:extLst>
          </p:cNvPr>
          <p:cNvSpPr txBox="1"/>
          <p:nvPr/>
        </p:nvSpPr>
        <p:spPr>
          <a:xfrm>
            <a:off x="8545286" y="6333254"/>
            <a:ext cx="3522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it-IT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https://car-damage-detect.streamlit.app</a:t>
            </a:r>
            <a:endParaRPr lang="it-IT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40E1DC5-81E6-EF8B-DD28-35CBA7F2D8A5}"/>
              </a:ext>
            </a:extLst>
          </p:cNvPr>
          <p:cNvSpPr txBox="1"/>
          <p:nvPr/>
        </p:nvSpPr>
        <p:spPr>
          <a:xfrm>
            <a:off x="4778829" y="5582175"/>
            <a:ext cx="33745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it-IT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https://cardamagedetector.streamlit.app</a:t>
            </a:r>
            <a:endParaRPr lang="it-IT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07E2DC2-25F6-AEEC-C29A-869A86883719}"/>
              </a:ext>
            </a:extLst>
          </p:cNvPr>
          <p:cNvSpPr txBox="1"/>
          <p:nvPr/>
        </p:nvSpPr>
        <p:spPr>
          <a:xfrm>
            <a:off x="208071" y="6181973"/>
            <a:ext cx="44401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it-IT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https://moksh-dl-car-damage-detection.streamlit.app</a:t>
            </a:r>
            <a:endParaRPr lang="it-IT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4B0E67D-4EC4-8140-79A0-9C197EE317E9}"/>
              </a:ext>
            </a:extLst>
          </p:cNvPr>
          <p:cNvSpPr txBox="1"/>
          <p:nvPr/>
        </p:nvSpPr>
        <p:spPr>
          <a:xfrm>
            <a:off x="555171" y="293913"/>
            <a:ext cx="708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State of the Art </a:t>
            </a:r>
            <a:r>
              <a:rPr lang="it-IT" sz="28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around</a:t>
            </a:r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2020</a:t>
            </a:r>
          </a:p>
        </p:txBody>
      </p:sp>
    </p:spTree>
    <p:extLst>
      <p:ext uri="{BB962C8B-B14F-4D97-AF65-F5344CB8AC3E}">
        <p14:creationId xmlns:p14="http://schemas.microsoft.com/office/powerpoint/2010/main" val="2305859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E13E76-DDD7-BAE0-5B60-FD894C64A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1" name="Isosceles Triangle 104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1B9DF6-2114-BE9B-D39E-2FDE80414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13710" y="288485"/>
            <a:ext cx="6715067" cy="5926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Isosceles Triangle 104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370E2EB-8B72-627C-1FA4-FD0AB32239F9}"/>
              </a:ext>
            </a:extLst>
          </p:cNvPr>
          <p:cNvSpPr txBox="1"/>
          <p:nvPr/>
        </p:nvSpPr>
        <p:spPr>
          <a:xfrm>
            <a:off x="263981" y="1731203"/>
            <a:ext cx="28520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Typical</a:t>
            </a:r>
            <a:r>
              <a:rPr lang="it-IT" sz="2800" b="1" dirty="0">
                <a:latin typeface="Verdana" panose="020B0604030504040204" pitchFamily="34" charset="0"/>
                <a:ea typeface="Verdana" panose="020B0604030504040204" pitchFamily="34" charset="0"/>
              </a:rPr>
              <a:t> timeline of </a:t>
            </a:r>
            <a:r>
              <a:rPr lang="it-IT" sz="2800" b="1" dirty="0" err="1">
                <a:latin typeface="Verdana" panose="020B0604030504040204" pitchFamily="34" charset="0"/>
                <a:ea typeface="Verdana" panose="020B0604030504040204" pitchFamily="34" charset="0"/>
              </a:rPr>
              <a:t>claims</a:t>
            </a:r>
            <a:r>
              <a:rPr lang="it-IT" sz="2800" b="1" dirty="0">
                <a:latin typeface="Verdana" panose="020B0604030504040204" pitchFamily="34" charset="0"/>
                <a:ea typeface="Verdana" panose="020B0604030504040204" pitchFamily="34" charset="0"/>
              </a:rPr>
              <a:t> processing for a car </a:t>
            </a:r>
            <a:r>
              <a:rPr lang="it-IT" sz="2800" b="1" dirty="0" err="1">
                <a:latin typeface="Verdana" panose="020B0604030504040204" pitchFamily="34" charset="0"/>
                <a:ea typeface="Verdana" panose="020B0604030504040204" pitchFamily="34" charset="0"/>
              </a:rPr>
              <a:t>accident</a:t>
            </a:r>
            <a:endParaRPr lang="it-IT" sz="2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D0B9221-D1F6-6B93-1C33-FB479D0E9347}"/>
              </a:ext>
            </a:extLst>
          </p:cNvPr>
          <p:cNvSpPr txBox="1"/>
          <p:nvPr/>
        </p:nvSpPr>
        <p:spPr>
          <a:xfrm>
            <a:off x="10018485" y="3918305"/>
            <a:ext cx="18533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00" dirty="0">
                <a:latin typeface="Verdana" panose="020B0604030504040204" pitchFamily="34" charset="0"/>
                <a:ea typeface="Verdana" panose="020B060403050404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-Reference 1</a:t>
            </a:r>
            <a:endParaRPr lang="it-IT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None/>
            </a:pPr>
            <a:endParaRPr lang="it-IT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None/>
            </a:pPr>
            <a:r>
              <a:rPr lang="it-IT" sz="1200" dirty="0">
                <a:latin typeface="Verdana" panose="020B0604030504040204" pitchFamily="34" charset="0"/>
                <a:ea typeface="Verdana" panose="020B0604030504040204" pitchFamily="34" charset="0"/>
              </a:rPr>
              <a:t>-</a:t>
            </a:r>
            <a:r>
              <a:rPr lang="it-IT" sz="1200" dirty="0">
                <a:latin typeface="Verdana" panose="020B0604030504040204" pitchFamily="34" charset="0"/>
                <a:ea typeface="Verdana" panose="020B060403050404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Reference 2</a:t>
            </a:r>
            <a:endParaRPr lang="it-IT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None/>
            </a:pPr>
            <a:endParaRPr lang="it-IT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None/>
            </a:pPr>
            <a:r>
              <a:rPr lang="it-IT" sz="1200" dirty="0">
                <a:latin typeface="Verdana" panose="020B0604030504040204" pitchFamily="34" charset="0"/>
                <a:ea typeface="Verdana" panose="020B0604030504040204" pitchFamily="34" charset="0"/>
              </a:rPr>
              <a:t> -</a:t>
            </a:r>
            <a:r>
              <a:rPr lang="it-IT" sz="1200" dirty="0">
                <a:latin typeface="Verdana" panose="020B0604030504040204" pitchFamily="34" charset="0"/>
                <a:ea typeface="Verdana" panose="020B060403050404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Reference 3</a:t>
            </a:r>
            <a:endParaRPr lang="it-IT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None/>
            </a:pPr>
            <a:endParaRPr lang="it-IT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None/>
            </a:pPr>
            <a:endParaRPr lang="it-IT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None/>
            </a:pP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23725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BEF0109-7B1C-27D1-EDBA-2B52F8E162CD}"/>
              </a:ext>
            </a:extLst>
          </p:cNvPr>
          <p:cNvSpPr txBox="1"/>
          <p:nvPr/>
        </p:nvSpPr>
        <p:spPr>
          <a:xfrm>
            <a:off x="1415143" y="381858"/>
            <a:ext cx="8850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it-IT" sz="28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Revolution</a:t>
            </a:r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coming from Transformers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26333F4-7ECA-92FA-E95E-0219F1294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86" y="2731783"/>
            <a:ext cx="3026229" cy="3237715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1765D6B-4157-93C8-80E8-FDE0A81B0BBB}"/>
              </a:ext>
            </a:extLst>
          </p:cNvPr>
          <p:cNvSpPr txBox="1"/>
          <p:nvPr/>
        </p:nvSpPr>
        <p:spPr>
          <a:xfrm>
            <a:off x="4920342" y="1025405"/>
            <a:ext cx="70648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🔹 Encoder-Only (Understanding)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Example: BERT 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 case: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classification, sentence similarity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286B4D5-4C8F-BB40-B6FB-3750A87E1CF9}"/>
              </a:ext>
            </a:extLst>
          </p:cNvPr>
          <p:cNvSpPr txBox="1"/>
          <p:nvPr/>
        </p:nvSpPr>
        <p:spPr>
          <a:xfrm>
            <a:off x="4920342" y="257208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🔹 Decoder-Only (Generation)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Example: GPT 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 case: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text generation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C2A9D95-4A6C-4F2A-2904-38DFCD98FC3F}"/>
              </a:ext>
            </a:extLst>
          </p:cNvPr>
          <p:cNvSpPr txBox="1"/>
          <p:nvPr/>
        </p:nvSpPr>
        <p:spPr>
          <a:xfrm>
            <a:off x="4920342" y="4118759"/>
            <a:ext cx="6498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🔹 Encoder–Decoder (Seq2Seq)</a:t>
            </a:r>
          </a:p>
          <a:p>
            <a:pPr>
              <a:buNone/>
            </a:pPr>
            <a:r>
              <a:rPr lang="it-IT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it-IT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T5 </a:t>
            </a:r>
          </a:p>
          <a:p>
            <a:pPr>
              <a:buNone/>
            </a:pPr>
            <a:r>
              <a:rPr lang="it-IT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 case:</a:t>
            </a:r>
            <a:r>
              <a:rPr lang="it-IT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translation</a:t>
            </a:r>
            <a:r>
              <a:rPr lang="it-IT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it-IT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summarization</a:t>
            </a:r>
            <a:endParaRPr lang="it-IT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570FB4F-8A9D-CD23-FB6C-3A04C5D5A042}"/>
              </a:ext>
            </a:extLst>
          </p:cNvPr>
          <p:cNvSpPr txBox="1"/>
          <p:nvPr/>
        </p:nvSpPr>
        <p:spPr>
          <a:xfrm>
            <a:off x="379825" y="609439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www.nvidia.com/en-eu/glossary/large-language-models/</a:t>
            </a:r>
            <a:endParaRPr lang="it-IT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1487589-6577-8EC0-DEC9-5336A6F7398A}"/>
              </a:ext>
            </a:extLst>
          </p:cNvPr>
          <p:cNvSpPr txBox="1"/>
          <p:nvPr/>
        </p:nvSpPr>
        <p:spPr>
          <a:xfrm>
            <a:off x="336870" y="832952"/>
            <a:ext cx="41480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Transformer </a:t>
            </a:r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neural network architecture that uses self-attention mechanisms to process entire sequences of data simultaneously, enabling highly parallelizable and scalable training for tasks like language modeling and translation.</a:t>
            </a:r>
            <a:endParaRPr lang="it-IT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052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9D2D54-C702-7BA3-3F4E-08F992F92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3A236BFE-62BE-CAE5-0F2D-AF259F954D6D}"/>
              </a:ext>
            </a:extLst>
          </p:cNvPr>
          <p:cNvSpPr txBox="1"/>
          <p:nvPr/>
        </p:nvSpPr>
        <p:spPr>
          <a:xfrm>
            <a:off x="1415143" y="381858"/>
            <a:ext cx="8850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it-IT" sz="28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Revolution</a:t>
            </a:r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coming from Transformers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1795A8-58A7-789B-523A-81D483B1B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94" y="2353300"/>
            <a:ext cx="5387378" cy="375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2B7CD7FD-2F2D-FA57-2702-9F9BF49746F5}"/>
              </a:ext>
            </a:extLst>
          </p:cNvPr>
          <p:cNvSpPr/>
          <p:nvPr/>
        </p:nvSpPr>
        <p:spPr>
          <a:xfrm>
            <a:off x="403823" y="972378"/>
            <a:ext cx="4962834" cy="13136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F12231B-9535-44F1-5A34-7948905CED3C}"/>
              </a:ext>
            </a:extLst>
          </p:cNvPr>
          <p:cNvSpPr txBox="1"/>
          <p:nvPr/>
        </p:nvSpPr>
        <p:spPr>
          <a:xfrm>
            <a:off x="6215744" y="1025405"/>
            <a:ext cx="58782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🔹 Encoder-Only (Understanding)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Example: CLIP 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 case: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image-text retrieval, zero-shot classification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542E01B-FA43-8287-1378-C2AC8C7C513E}"/>
              </a:ext>
            </a:extLst>
          </p:cNvPr>
          <p:cNvSpPr txBox="1"/>
          <p:nvPr/>
        </p:nvSpPr>
        <p:spPr>
          <a:xfrm>
            <a:off x="6215744" y="2900058"/>
            <a:ext cx="57030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🔹 Decoder-Only (Generation)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Example: Gemini 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 case: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image captioning, Visual Q&amp;A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AA73486-8444-B720-BC8E-DCDBEB6AF655}"/>
              </a:ext>
            </a:extLst>
          </p:cNvPr>
          <p:cNvSpPr txBox="1"/>
          <p:nvPr/>
        </p:nvSpPr>
        <p:spPr>
          <a:xfrm>
            <a:off x="6215744" y="4497713"/>
            <a:ext cx="5562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🔹 Encoder–Decoder (Seq2Seq)</a:t>
            </a:r>
          </a:p>
          <a:p>
            <a:pPr>
              <a:buNone/>
            </a:pPr>
            <a:r>
              <a:rPr lang="it-IT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it-IT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it-IT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Flamingo</a:t>
            </a:r>
            <a:r>
              <a:rPr lang="it-IT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it-IT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PaLI</a:t>
            </a:r>
            <a:r>
              <a:rPr lang="it-IT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>
              <a:buNone/>
            </a:pPr>
            <a:r>
              <a:rPr lang="it-IT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 case:</a:t>
            </a:r>
            <a:r>
              <a:rPr lang="it-IT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OCR, document understanding, translation</a:t>
            </a:r>
            <a:endParaRPr lang="it-IT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BAA228C-B7A0-3602-0839-27EDDBD41118}"/>
              </a:ext>
            </a:extLst>
          </p:cNvPr>
          <p:cNvSpPr txBox="1"/>
          <p:nvPr/>
        </p:nvSpPr>
        <p:spPr>
          <a:xfrm>
            <a:off x="2885240" y="6337642"/>
            <a:ext cx="13553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claude.ai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10B4700-F77F-7515-CE0C-309998616CE7}"/>
              </a:ext>
            </a:extLst>
          </p:cNvPr>
          <p:cNvSpPr/>
          <p:nvPr/>
        </p:nvSpPr>
        <p:spPr>
          <a:xfrm>
            <a:off x="485466" y="1025405"/>
            <a:ext cx="4962834" cy="13136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itchFamily="34" charset="-120"/>
              </a:rPr>
              <a:t>A Vision-Language Model (VLM) combines a Vision Encoder with a Transformer LLM, bridging image understanding and language generation to enable multimodal reasoning across text and images.</a:t>
            </a:r>
            <a:endParaRPr lang="en-US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543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B9BC5A19-C3B3-34CD-FF83-38E192322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76" y="1219200"/>
            <a:ext cx="7354541" cy="4919132"/>
          </a:xfrm>
          <a:prstGeom prst="rect">
            <a:avLst/>
          </a:prstGeom>
          <a:ln>
            <a:noFill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C656F1B5-3ED6-D438-C6AB-FAF89C782831}"/>
              </a:ext>
            </a:extLst>
          </p:cNvPr>
          <p:cNvSpPr txBox="1"/>
          <p:nvPr/>
        </p:nvSpPr>
        <p:spPr>
          <a:xfrm>
            <a:off x="2313499" y="381858"/>
            <a:ext cx="6770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From seeing to </a:t>
            </a:r>
            <a:r>
              <a:rPr lang="it-IT" sz="28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acting</a:t>
            </a:r>
            <a:endParaRPr lang="it-IT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7823950-7FA3-F83D-5EBE-8527630B9EBA}"/>
              </a:ext>
            </a:extLst>
          </p:cNvPr>
          <p:cNvSpPr txBox="1"/>
          <p:nvPr/>
        </p:nvSpPr>
        <p:spPr>
          <a:xfrm>
            <a:off x="7839239" y="5861333"/>
            <a:ext cx="13553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claude.ai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6D6353C-CA02-4187-9B48-F85F06743AA0}"/>
              </a:ext>
            </a:extLst>
          </p:cNvPr>
          <p:cNvSpPr txBox="1"/>
          <p:nvPr/>
        </p:nvSpPr>
        <p:spPr>
          <a:xfrm>
            <a:off x="8316685" y="2303306"/>
            <a:ext cx="360317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A new era </a:t>
            </a:r>
            <a:r>
              <a:rPr lang="en-US" sz="2000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in which AI systems not only understand language but </a:t>
            </a:r>
            <a:r>
              <a:rPr lang="it-IT" sz="2000" dirty="0" err="1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also</a:t>
            </a:r>
            <a:r>
              <a:rPr lang="it-IT" sz="2000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 </a:t>
            </a:r>
            <a:r>
              <a:rPr lang="it-IT" sz="2000" dirty="0" err="1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reason</a:t>
            </a:r>
            <a:r>
              <a:rPr lang="it-IT" sz="2000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, plan, and </a:t>
            </a:r>
            <a:r>
              <a:rPr lang="it-IT" sz="2000" dirty="0" err="1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interact</a:t>
            </a:r>
            <a:r>
              <a:rPr lang="it-IT" sz="2000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 with </a:t>
            </a:r>
            <a:r>
              <a:rPr lang="it-IT" sz="2000" dirty="0" err="1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their</a:t>
            </a:r>
            <a:r>
              <a:rPr lang="it-IT" sz="2000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 </a:t>
            </a:r>
            <a:r>
              <a:rPr lang="it-IT" sz="2000" dirty="0" err="1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environment</a:t>
            </a:r>
            <a:r>
              <a:rPr lang="it-IT" sz="2000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 to </a:t>
            </a:r>
            <a:r>
              <a:rPr lang="it-IT" sz="2000" dirty="0" err="1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perform</a:t>
            </a:r>
            <a:r>
              <a:rPr lang="it-IT" sz="2000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 </a:t>
            </a:r>
            <a:r>
              <a:rPr lang="it-IT" sz="2000" dirty="0" err="1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complex</a:t>
            </a:r>
            <a:r>
              <a:rPr lang="it-IT" sz="2000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 tasks.</a:t>
            </a:r>
            <a:endParaRPr lang="it-IT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649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88">
          <a:extLst>
            <a:ext uri="{FF2B5EF4-FFF2-40B4-BE49-F238E27FC236}">
              <a16:creationId xmlns:a16="http://schemas.microsoft.com/office/drawing/2014/main" id="{88CD69FA-F6F3-B2BE-C66E-145DBFA09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5d9b2fd2a7_0_0">
            <a:extLst>
              <a:ext uri="{FF2B5EF4-FFF2-40B4-BE49-F238E27FC236}">
                <a16:creationId xmlns:a16="http://schemas.microsoft.com/office/drawing/2014/main" id="{4A5DC629-AE29-9A5A-5929-41B94A5F9A2E}"/>
              </a:ext>
            </a:extLst>
          </p:cNvPr>
          <p:cNvSpPr txBox="1"/>
          <p:nvPr/>
        </p:nvSpPr>
        <p:spPr>
          <a:xfrm>
            <a:off x="2022289" y="1920684"/>
            <a:ext cx="8421632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b="1" dirty="0" err="1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Why</a:t>
            </a:r>
            <a:r>
              <a:rPr lang="it-IT" sz="2800" b="1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 AI Agents?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it-IT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sym typeface="Overlock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-&gt; Autonomously Perform Tasks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-&gt; Adapt and Learn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-&gt; Increase Productivity and Efficiency</a:t>
            </a:r>
            <a:endParaRPr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-&gt; Enable Personalisation and Scalability</a:t>
            </a:r>
            <a:endParaRPr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Overlock" panose="020B0604020202020204"/>
              <a:sym typeface="Overlock"/>
            </a:endParaRP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DABB3B08-86E4-2589-B5F7-999E78F9EA9D}"/>
              </a:ext>
            </a:extLst>
          </p:cNvPr>
          <p:cNvSpPr/>
          <p:nvPr/>
        </p:nvSpPr>
        <p:spPr>
          <a:xfrm>
            <a:off x="2376511" y="103224"/>
            <a:ext cx="2677886" cy="1523176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622F337-9359-AE2E-B434-D75D6C39CB68}"/>
              </a:ext>
            </a:extLst>
          </p:cNvPr>
          <p:cNvSpPr txBox="1"/>
          <p:nvPr/>
        </p:nvSpPr>
        <p:spPr>
          <a:xfrm>
            <a:off x="2926239" y="595910"/>
            <a:ext cx="1578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Reasoning</a:t>
            </a:r>
            <a:endParaRPr lang="it-IT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976F04BD-A7A8-4835-053D-747CD53FC59F}"/>
              </a:ext>
            </a:extLst>
          </p:cNvPr>
          <p:cNvSpPr/>
          <p:nvPr/>
        </p:nvSpPr>
        <p:spPr>
          <a:xfrm>
            <a:off x="9156590" y="2459571"/>
            <a:ext cx="2677886" cy="1523176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D125EE4-BB80-F54A-45F7-E31CBCEFF9C9}"/>
              </a:ext>
            </a:extLst>
          </p:cNvPr>
          <p:cNvSpPr txBox="1"/>
          <p:nvPr/>
        </p:nvSpPr>
        <p:spPr>
          <a:xfrm>
            <a:off x="9602731" y="2946767"/>
            <a:ext cx="1578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Acting</a:t>
            </a:r>
            <a:endParaRPr lang="it-IT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7DDB57BA-2852-E752-DE20-7B0930352F29}"/>
              </a:ext>
            </a:extLst>
          </p:cNvPr>
          <p:cNvSpPr/>
          <p:nvPr/>
        </p:nvSpPr>
        <p:spPr>
          <a:xfrm>
            <a:off x="631734" y="2946767"/>
            <a:ext cx="2677886" cy="1523176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BDB3937-7685-BD41-2D92-9C82145D4619}"/>
              </a:ext>
            </a:extLst>
          </p:cNvPr>
          <p:cNvSpPr txBox="1"/>
          <p:nvPr/>
        </p:nvSpPr>
        <p:spPr>
          <a:xfrm>
            <a:off x="1077092" y="3508300"/>
            <a:ext cx="1786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Observing</a:t>
            </a:r>
            <a:endParaRPr lang="it-IT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EFED31A4-21BC-5496-8AFC-F8F558113CBE}"/>
              </a:ext>
            </a:extLst>
          </p:cNvPr>
          <p:cNvSpPr/>
          <p:nvPr/>
        </p:nvSpPr>
        <p:spPr>
          <a:xfrm>
            <a:off x="7988925" y="132312"/>
            <a:ext cx="2677886" cy="1523176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4E2DCCB-8A1A-63CB-EF25-632E684AFCD2}"/>
              </a:ext>
            </a:extLst>
          </p:cNvPr>
          <p:cNvSpPr txBox="1"/>
          <p:nvPr/>
        </p:nvSpPr>
        <p:spPr>
          <a:xfrm>
            <a:off x="8457073" y="681661"/>
            <a:ext cx="1913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Collaborating</a:t>
            </a:r>
            <a:endParaRPr lang="it-IT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67E47288-DE1A-FBEE-2AA9-9EDE6D8A33AD}"/>
              </a:ext>
            </a:extLst>
          </p:cNvPr>
          <p:cNvSpPr/>
          <p:nvPr/>
        </p:nvSpPr>
        <p:spPr>
          <a:xfrm>
            <a:off x="6735737" y="4840851"/>
            <a:ext cx="2677886" cy="1523176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BC3D01F-4222-387C-71D5-DC9AA3914A8D}"/>
              </a:ext>
            </a:extLst>
          </p:cNvPr>
          <p:cNvSpPr txBox="1"/>
          <p:nvPr/>
        </p:nvSpPr>
        <p:spPr>
          <a:xfrm>
            <a:off x="7285465" y="5362774"/>
            <a:ext cx="1578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Planning</a:t>
            </a: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9BF24C05-5DB8-A1D3-138C-32BA9C99E3EB}"/>
              </a:ext>
            </a:extLst>
          </p:cNvPr>
          <p:cNvSpPr/>
          <p:nvPr/>
        </p:nvSpPr>
        <p:spPr>
          <a:xfrm>
            <a:off x="1681146" y="4832020"/>
            <a:ext cx="2677886" cy="1523176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EAAFE64-7BA7-5D9C-9689-94E225F9ACA2}"/>
              </a:ext>
            </a:extLst>
          </p:cNvPr>
          <p:cNvSpPr txBox="1"/>
          <p:nvPr/>
        </p:nvSpPr>
        <p:spPr>
          <a:xfrm>
            <a:off x="2072509" y="5244879"/>
            <a:ext cx="1895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Self-</a:t>
            </a:r>
            <a:r>
              <a:rPr lang="it-IT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Refining</a:t>
            </a:r>
            <a:endParaRPr lang="it-IT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231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88">
          <a:extLst>
            <a:ext uri="{FF2B5EF4-FFF2-40B4-BE49-F238E27FC236}">
              <a16:creationId xmlns:a16="http://schemas.microsoft.com/office/drawing/2014/main" id="{80674E05-8CF1-94F1-5A53-A98A9CB89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5d9b2fd2a7_0_0">
            <a:extLst>
              <a:ext uri="{FF2B5EF4-FFF2-40B4-BE49-F238E27FC236}">
                <a16:creationId xmlns:a16="http://schemas.microsoft.com/office/drawing/2014/main" id="{164DC953-265F-D789-15BF-EA65044CB12A}"/>
              </a:ext>
            </a:extLst>
          </p:cNvPr>
          <p:cNvSpPr txBox="1"/>
          <p:nvPr/>
        </p:nvSpPr>
        <p:spPr>
          <a:xfrm>
            <a:off x="1597693" y="336903"/>
            <a:ext cx="8710800" cy="135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b="1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AI Agents Architecture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chemeClr val="bg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D471C0B-C33F-D983-4C68-DC3F9E2B0309}"/>
              </a:ext>
            </a:extLst>
          </p:cNvPr>
          <p:cNvSpPr txBox="1"/>
          <p:nvPr/>
        </p:nvSpPr>
        <p:spPr>
          <a:xfrm>
            <a:off x="174171" y="1673088"/>
            <a:ext cx="4899261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Single-Agent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 One AI agent handles all tasks. </a:t>
            </a:r>
          </a:p>
          <a:p>
            <a:pPr algn="ctr"/>
            <a:r>
              <a:rPr lang="en-US" sz="2000" b="0" i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Simple to design and maintain, but less scalable </a:t>
            </a:r>
          </a:p>
          <a:p>
            <a:pPr algn="ctr"/>
            <a:r>
              <a:rPr lang="en-US" sz="2000" b="0" i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for complex tasks.</a:t>
            </a:r>
          </a:p>
          <a:p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9157369-4E19-C674-60DC-F0470D1D6A3E}"/>
              </a:ext>
            </a:extLst>
          </p:cNvPr>
          <p:cNvSpPr txBox="1"/>
          <p:nvPr/>
        </p:nvSpPr>
        <p:spPr>
          <a:xfrm>
            <a:off x="6748389" y="1452069"/>
            <a:ext cx="44304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Multi-Agent System (MAS)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 Multiple agents work together, enabling parallel processing and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specialisation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 More scalable and robust, but introduces coordination challenges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353C09B-11FB-076E-FDB6-36792164E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3211" y="3774715"/>
            <a:ext cx="1631216" cy="1631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8888ADD2-CF88-CE96-8CB2-5A082FC00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453" y="3584475"/>
            <a:ext cx="1631216" cy="1631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49484CB9-7244-C269-5766-C6AE77FDC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501" y="4889881"/>
            <a:ext cx="1631216" cy="1631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0C098C7-4911-DEB0-7811-C9B7F2CFA421}"/>
              </a:ext>
            </a:extLst>
          </p:cNvPr>
          <p:cNvSpPr txBox="1"/>
          <p:nvPr/>
        </p:nvSpPr>
        <p:spPr>
          <a:xfrm>
            <a:off x="1327236" y="6336431"/>
            <a:ext cx="61177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https://deepai.org/machine-learning-model/text2img</a:t>
            </a:r>
            <a:endParaRPr lang="it-IT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66496234-80B5-ADA3-DB2D-824B6DB33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7194" y="3581303"/>
            <a:ext cx="1766654" cy="163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286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0993CA-52F3-0785-FC08-3A3BD6EC2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285754B0-F110-1FAE-6A17-DAEA3D74AC2B}"/>
              </a:ext>
            </a:extLst>
          </p:cNvPr>
          <p:cNvSpPr txBox="1"/>
          <p:nvPr/>
        </p:nvSpPr>
        <p:spPr>
          <a:xfrm>
            <a:off x="1464128" y="273000"/>
            <a:ext cx="9263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Tech </a:t>
            </a:r>
            <a:r>
              <a:rPr lang="it-IT" sz="28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Stack</a:t>
            </a:r>
            <a:endParaRPr lang="it-IT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3" name="Diagramma 2">
            <a:extLst>
              <a:ext uri="{FF2B5EF4-FFF2-40B4-BE49-F238E27FC236}">
                <a16:creationId xmlns:a16="http://schemas.microsoft.com/office/drawing/2014/main" id="{F0DAF5B2-C333-6E40-A5E8-29C9114AFF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5694533"/>
              </p:ext>
            </p:extLst>
          </p:nvPr>
        </p:nvGraphicFramePr>
        <p:xfrm>
          <a:off x="2031999" y="101358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0081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B7151F-BD2A-5BD3-EDD5-5A4C3E7FD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8367335-E8C3-D4CA-A430-C58D63E2F50F}"/>
              </a:ext>
            </a:extLst>
          </p:cNvPr>
          <p:cNvSpPr txBox="1"/>
          <p:nvPr/>
        </p:nvSpPr>
        <p:spPr>
          <a:xfrm>
            <a:off x="1464128" y="273000"/>
            <a:ext cx="92637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Multi-Agent System from Scratch for the Car </a:t>
            </a:r>
            <a:r>
              <a:rPr lang="it-IT" sz="28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Damage</a:t>
            </a:r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Evaluation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41DC4C4-2460-2F97-423C-A91322807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08" y="1341883"/>
            <a:ext cx="5367222" cy="3396571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3AE46F1B-056B-7572-4B26-31A2BE2CA2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209" y="3810648"/>
            <a:ext cx="5914983" cy="2873409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990B046-9EDC-FB0D-A090-06DCD7B8D9B0}"/>
              </a:ext>
            </a:extLst>
          </p:cNvPr>
          <p:cNvSpPr txBox="1"/>
          <p:nvPr/>
        </p:nvSpPr>
        <p:spPr>
          <a:xfrm>
            <a:off x="358946" y="6008915"/>
            <a:ext cx="5148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 the </a:t>
            </a:r>
            <a:r>
              <a:rPr lang="it-IT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beginning</a:t>
            </a:r>
            <a:r>
              <a:rPr lang="it-IT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the project </a:t>
            </a:r>
            <a:r>
              <a:rPr lang="it-IT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started</a:t>
            </a:r>
            <a:r>
              <a:rPr lang="it-IT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a </a:t>
            </a:r>
            <a:r>
              <a:rPr lang="it-IT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simple</a:t>
            </a:r>
            <a:r>
              <a:rPr lang="it-IT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APIs</a:t>
            </a:r>
            <a:r>
              <a:rPr lang="it-IT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pipeline</a:t>
            </a:r>
          </a:p>
        </p:txBody>
      </p:sp>
      <p:sp>
        <p:nvSpPr>
          <p:cNvPr id="8" name="Freccia in su 7">
            <a:extLst>
              <a:ext uri="{FF2B5EF4-FFF2-40B4-BE49-F238E27FC236}">
                <a16:creationId xmlns:a16="http://schemas.microsoft.com/office/drawing/2014/main" id="{67FF93DD-6F98-CA6A-215E-14A737CF12B3}"/>
              </a:ext>
            </a:extLst>
          </p:cNvPr>
          <p:cNvSpPr/>
          <p:nvPr/>
        </p:nvSpPr>
        <p:spPr>
          <a:xfrm>
            <a:off x="2204357" y="5085213"/>
            <a:ext cx="838200" cy="57694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A2D5065-F93B-7D6C-9480-8B668CA8E493}"/>
              </a:ext>
            </a:extLst>
          </p:cNvPr>
          <p:cNvSpPr txBox="1"/>
          <p:nvPr/>
        </p:nvSpPr>
        <p:spPr>
          <a:xfrm>
            <a:off x="6433457" y="1807029"/>
            <a:ext cx="3439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 the end, a Multi-Agent System with a </a:t>
            </a:r>
            <a:r>
              <a:rPr lang="it-IT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ReAct</a:t>
            </a:r>
            <a:r>
              <a:rPr lang="it-IT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loop </a:t>
            </a:r>
            <a:r>
              <a:rPr lang="it-IT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it-IT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achieved</a:t>
            </a:r>
            <a:r>
              <a:rPr lang="it-IT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0" name="Freccia in giù 9">
            <a:extLst>
              <a:ext uri="{FF2B5EF4-FFF2-40B4-BE49-F238E27FC236}">
                <a16:creationId xmlns:a16="http://schemas.microsoft.com/office/drawing/2014/main" id="{9A3F5CCA-7BF3-CD05-2081-F80BB8A8EC5D}"/>
              </a:ext>
            </a:extLst>
          </p:cNvPr>
          <p:cNvSpPr/>
          <p:nvPr/>
        </p:nvSpPr>
        <p:spPr>
          <a:xfrm>
            <a:off x="8447314" y="2677886"/>
            <a:ext cx="838200" cy="751114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2883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D1B42-EE5D-F3BA-DCD0-AE8D895BA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044E886-3317-7D74-ECB2-B4DFB2DBB9D8}"/>
              </a:ext>
            </a:extLst>
          </p:cNvPr>
          <p:cNvSpPr txBox="1"/>
          <p:nvPr/>
        </p:nvSpPr>
        <p:spPr>
          <a:xfrm>
            <a:off x="1464128" y="273000"/>
            <a:ext cx="92637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Multi-Agent System from Scratch for the Car </a:t>
            </a:r>
            <a:r>
              <a:rPr lang="it-IT" sz="28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Damage</a:t>
            </a:r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Evaluation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605EF9D9-E8A2-B5A2-FCAA-A96CE20EC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200" y="1540838"/>
            <a:ext cx="7607097" cy="3172677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98FB979-AB70-9BF7-605A-206F6F1D2D2F}"/>
              </a:ext>
            </a:extLst>
          </p:cNvPr>
          <p:cNvSpPr txBox="1"/>
          <p:nvPr/>
        </p:nvSpPr>
        <p:spPr>
          <a:xfrm>
            <a:off x="761999" y="5127171"/>
            <a:ext cx="110163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 agent is stateful, explainable, and self-tracking, enabling autonomous and auditable decision-making.</a:t>
            </a:r>
            <a:endParaRPr lang="it-IT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252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2C879-15FA-2DD6-C451-8C1B56AF1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24BE8D01-F69A-424E-82D0-328D68F2B3AB}"/>
              </a:ext>
            </a:extLst>
          </p:cNvPr>
          <p:cNvSpPr txBox="1"/>
          <p:nvPr/>
        </p:nvSpPr>
        <p:spPr>
          <a:xfrm>
            <a:off x="1118819" y="207190"/>
            <a:ext cx="92637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Multi-Agent System from Scratch for the Car </a:t>
            </a:r>
            <a:r>
              <a:rPr lang="it-IT" sz="28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Damage</a:t>
            </a:r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Evaluation</a:t>
            </a:r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081AD3BC-8DF8-B531-B0E3-55CCDA79BDD7}"/>
              </a:ext>
            </a:extLst>
          </p:cNvPr>
          <p:cNvGrpSpPr/>
          <p:nvPr/>
        </p:nvGrpSpPr>
        <p:grpSpPr>
          <a:xfrm>
            <a:off x="493559" y="2995422"/>
            <a:ext cx="1483545" cy="982231"/>
            <a:chOff x="2922" y="1560412"/>
            <a:chExt cx="1277699" cy="982231"/>
          </a:xfrm>
        </p:grpSpPr>
        <p:sp>
          <p:nvSpPr>
            <p:cNvPr id="9" name="Rettangolo con angoli arrotondati 8">
              <a:extLst>
                <a:ext uri="{FF2B5EF4-FFF2-40B4-BE49-F238E27FC236}">
                  <a16:creationId xmlns:a16="http://schemas.microsoft.com/office/drawing/2014/main" id="{25F61A97-0799-595B-4205-1FBC0FC43A6E}"/>
                </a:ext>
              </a:extLst>
            </p:cNvPr>
            <p:cNvSpPr/>
            <p:nvPr/>
          </p:nvSpPr>
          <p:spPr>
            <a:xfrm>
              <a:off x="2922" y="1560412"/>
              <a:ext cx="1277699" cy="982231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446AC0D7-0DFD-1A82-C8CE-89563748346A}"/>
                </a:ext>
              </a:extLst>
            </p:cNvPr>
            <p:cNvSpPr txBox="1"/>
            <p:nvPr/>
          </p:nvSpPr>
          <p:spPr>
            <a:xfrm>
              <a:off x="31691" y="1589181"/>
              <a:ext cx="1220161" cy="9246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1800" kern="1200" dirty="0"/>
                <a:t>Orchestrator Agent</a:t>
              </a:r>
            </a:p>
          </p:txBody>
        </p:sp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EDC7B8F6-0D77-C491-D992-A3F5EBD4C11B}"/>
              </a:ext>
            </a:extLst>
          </p:cNvPr>
          <p:cNvGrpSpPr/>
          <p:nvPr/>
        </p:nvGrpSpPr>
        <p:grpSpPr>
          <a:xfrm>
            <a:off x="10417277" y="2966653"/>
            <a:ext cx="1483545" cy="982231"/>
            <a:chOff x="2922" y="1560412"/>
            <a:chExt cx="1277699" cy="982231"/>
          </a:xfrm>
        </p:grpSpPr>
        <p:sp>
          <p:nvSpPr>
            <p:cNvPr id="12" name="Rettangolo con angoli arrotondati 11">
              <a:extLst>
                <a:ext uri="{FF2B5EF4-FFF2-40B4-BE49-F238E27FC236}">
                  <a16:creationId xmlns:a16="http://schemas.microsoft.com/office/drawing/2014/main" id="{9B34016C-F0A2-D21B-C2C4-56B23A5D6AD7}"/>
                </a:ext>
              </a:extLst>
            </p:cNvPr>
            <p:cNvSpPr/>
            <p:nvPr/>
          </p:nvSpPr>
          <p:spPr>
            <a:xfrm>
              <a:off x="2922" y="1560412"/>
              <a:ext cx="1277699" cy="982231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60525E46-0493-9020-A106-233167CA4F64}"/>
                </a:ext>
              </a:extLst>
            </p:cNvPr>
            <p:cNvSpPr txBox="1"/>
            <p:nvPr/>
          </p:nvSpPr>
          <p:spPr>
            <a:xfrm>
              <a:off x="31691" y="1589181"/>
              <a:ext cx="1220161" cy="9246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1800" kern="1200" dirty="0" err="1"/>
                <a:t>Aggregator</a:t>
              </a:r>
              <a:endParaRPr lang="it-IT" sz="1800" kern="1200" dirty="0"/>
            </a:p>
          </p:txBody>
        </p:sp>
      </p:grp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44183EAF-7237-83B9-6205-577EC0BD09AB}"/>
              </a:ext>
            </a:extLst>
          </p:cNvPr>
          <p:cNvCxnSpPr>
            <a:cxnSpLocks/>
          </p:cNvCxnSpPr>
          <p:nvPr/>
        </p:nvCxnSpPr>
        <p:spPr>
          <a:xfrm flipV="1">
            <a:off x="1235332" y="5293379"/>
            <a:ext cx="8183968" cy="26635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4A2260FA-07DF-4FCE-1571-FD8F8E1F6078}"/>
              </a:ext>
            </a:extLst>
          </p:cNvPr>
          <p:cNvCxnSpPr>
            <a:cxnSpLocks/>
          </p:cNvCxnSpPr>
          <p:nvPr/>
        </p:nvCxnSpPr>
        <p:spPr>
          <a:xfrm flipV="1">
            <a:off x="3061448" y="1653060"/>
            <a:ext cx="8097601" cy="6806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F2C6B40D-8B39-F0E8-B389-644F01B9654A}"/>
              </a:ext>
            </a:extLst>
          </p:cNvPr>
          <p:cNvGrpSpPr/>
          <p:nvPr/>
        </p:nvGrpSpPr>
        <p:grpSpPr>
          <a:xfrm>
            <a:off x="493559" y="935028"/>
            <a:ext cx="1483545" cy="982231"/>
            <a:chOff x="2922" y="1560412"/>
            <a:chExt cx="1277699" cy="982231"/>
          </a:xfrm>
        </p:grpSpPr>
        <p:sp>
          <p:nvSpPr>
            <p:cNvPr id="21" name="Rettangolo con angoli arrotondati 20">
              <a:extLst>
                <a:ext uri="{FF2B5EF4-FFF2-40B4-BE49-F238E27FC236}">
                  <a16:creationId xmlns:a16="http://schemas.microsoft.com/office/drawing/2014/main" id="{11D21703-18D1-CEE5-C779-FF5E1BFF572A}"/>
                </a:ext>
              </a:extLst>
            </p:cNvPr>
            <p:cNvSpPr/>
            <p:nvPr/>
          </p:nvSpPr>
          <p:spPr>
            <a:xfrm>
              <a:off x="2922" y="1560412"/>
              <a:ext cx="1277699" cy="982231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FEF3C1CA-7FD2-7653-1813-D5A06325A277}"/>
                </a:ext>
              </a:extLst>
            </p:cNvPr>
            <p:cNvSpPr txBox="1"/>
            <p:nvPr/>
          </p:nvSpPr>
          <p:spPr>
            <a:xfrm>
              <a:off x="31691" y="1589181"/>
              <a:ext cx="1220161" cy="9246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1800" kern="1200" dirty="0"/>
                <a:t>Input</a:t>
              </a:r>
            </a:p>
          </p:txBody>
        </p:sp>
      </p:grp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67873E54-D32B-444B-FB5C-85F9DB8422E8}"/>
              </a:ext>
            </a:extLst>
          </p:cNvPr>
          <p:cNvGrpSpPr/>
          <p:nvPr/>
        </p:nvGrpSpPr>
        <p:grpSpPr>
          <a:xfrm>
            <a:off x="10450681" y="5234084"/>
            <a:ext cx="1483545" cy="982231"/>
            <a:chOff x="2922" y="1560412"/>
            <a:chExt cx="1277699" cy="982231"/>
          </a:xfrm>
        </p:grpSpPr>
        <p:sp>
          <p:nvSpPr>
            <p:cNvPr id="24" name="Rettangolo con angoli arrotondati 23">
              <a:extLst>
                <a:ext uri="{FF2B5EF4-FFF2-40B4-BE49-F238E27FC236}">
                  <a16:creationId xmlns:a16="http://schemas.microsoft.com/office/drawing/2014/main" id="{06F43081-A123-2BD5-527B-3AB814BE8B91}"/>
                </a:ext>
              </a:extLst>
            </p:cNvPr>
            <p:cNvSpPr/>
            <p:nvPr/>
          </p:nvSpPr>
          <p:spPr>
            <a:xfrm>
              <a:off x="2922" y="1560412"/>
              <a:ext cx="1277699" cy="982231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5" name="CasellaDiTesto 24">
              <a:extLst>
                <a:ext uri="{FF2B5EF4-FFF2-40B4-BE49-F238E27FC236}">
                  <a16:creationId xmlns:a16="http://schemas.microsoft.com/office/drawing/2014/main" id="{9F8499A9-93ED-DACD-15FE-5FEC8B7EC433}"/>
                </a:ext>
              </a:extLst>
            </p:cNvPr>
            <p:cNvSpPr txBox="1"/>
            <p:nvPr/>
          </p:nvSpPr>
          <p:spPr>
            <a:xfrm>
              <a:off x="31691" y="1589181"/>
              <a:ext cx="1220161" cy="9246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1800" kern="1200" dirty="0"/>
                <a:t>Output</a:t>
              </a:r>
            </a:p>
          </p:txBody>
        </p:sp>
      </p:grp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31A76910-6907-BA18-0537-6D66530622CC}"/>
              </a:ext>
            </a:extLst>
          </p:cNvPr>
          <p:cNvCxnSpPr>
            <a:cxnSpLocks/>
          </p:cNvCxnSpPr>
          <p:nvPr/>
        </p:nvCxnSpPr>
        <p:spPr>
          <a:xfrm>
            <a:off x="11192453" y="4077720"/>
            <a:ext cx="0" cy="976061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9992B3E9-09C6-7576-BDFB-BC72A18C7A25}"/>
              </a:ext>
            </a:extLst>
          </p:cNvPr>
          <p:cNvCxnSpPr>
            <a:cxnSpLocks/>
          </p:cNvCxnSpPr>
          <p:nvPr/>
        </p:nvCxnSpPr>
        <p:spPr>
          <a:xfrm>
            <a:off x="1235332" y="4185615"/>
            <a:ext cx="0" cy="976061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F8CD98E8-5ABB-8199-9048-FC847F0C951B}"/>
              </a:ext>
            </a:extLst>
          </p:cNvPr>
          <p:cNvCxnSpPr>
            <a:cxnSpLocks/>
          </p:cNvCxnSpPr>
          <p:nvPr/>
        </p:nvCxnSpPr>
        <p:spPr>
          <a:xfrm>
            <a:off x="1235331" y="1990592"/>
            <a:ext cx="0" cy="976061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99D00093-8E61-A2A7-F92C-9E606A1AA144}"/>
              </a:ext>
            </a:extLst>
          </p:cNvPr>
          <p:cNvCxnSpPr>
            <a:cxnSpLocks/>
          </p:cNvCxnSpPr>
          <p:nvPr/>
        </p:nvCxnSpPr>
        <p:spPr>
          <a:xfrm>
            <a:off x="11159049" y="1736670"/>
            <a:ext cx="0" cy="1170396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9B8F884B-560C-3FE3-4313-950B36E0D196}"/>
              </a:ext>
            </a:extLst>
          </p:cNvPr>
          <p:cNvCxnSpPr>
            <a:cxnSpLocks/>
          </p:cNvCxnSpPr>
          <p:nvPr/>
        </p:nvCxnSpPr>
        <p:spPr>
          <a:xfrm flipV="1">
            <a:off x="4610174" y="4089279"/>
            <a:ext cx="0" cy="1076128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D70696EC-A6D7-D7AC-E0E3-6F16FB0A51CF}"/>
              </a:ext>
            </a:extLst>
          </p:cNvPr>
          <p:cNvCxnSpPr>
            <a:cxnSpLocks/>
          </p:cNvCxnSpPr>
          <p:nvPr/>
        </p:nvCxnSpPr>
        <p:spPr>
          <a:xfrm flipV="1">
            <a:off x="6279658" y="4077720"/>
            <a:ext cx="0" cy="1076128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60D552F8-5EFE-9644-382F-5168F5FD73CF}"/>
              </a:ext>
            </a:extLst>
          </p:cNvPr>
          <p:cNvCxnSpPr>
            <a:cxnSpLocks/>
          </p:cNvCxnSpPr>
          <p:nvPr/>
        </p:nvCxnSpPr>
        <p:spPr>
          <a:xfrm flipV="1">
            <a:off x="7792313" y="4077720"/>
            <a:ext cx="0" cy="1076128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532C27D1-2D20-38A9-82C8-E1FBF005AC93}"/>
              </a:ext>
            </a:extLst>
          </p:cNvPr>
          <p:cNvCxnSpPr>
            <a:cxnSpLocks/>
          </p:cNvCxnSpPr>
          <p:nvPr/>
        </p:nvCxnSpPr>
        <p:spPr>
          <a:xfrm flipV="1">
            <a:off x="9389804" y="4027686"/>
            <a:ext cx="0" cy="1076128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9BFD8FFD-FDC0-0EC7-6B0F-F77C26A4E185}"/>
              </a:ext>
            </a:extLst>
          </p:cNvPr>
          <p:cNvCxnSpPr>
            <a:cxnSpLocks/>
          </p:cNvCxnSpPr>
          <p:nvPr/>
        </p:nvCxnSpPr>
        <p:spPr>
          <a:xfrm flipV="1">
            <a:off x="4629839" y="1807813"/>
            <a:ext cx="0" cy="1076128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A99DA4A7-7E7B-5E16-8D4A-5CE8FEA7E79F}"/>
              </a:ext>
            </a:extLst>
          </p:cNvPr>
          <p:cNvCxnSpPr>
            <a:cxnSpLocks/>
          </p:cNvCxnSpPr>
          <p:nvPr/>
        </p:nvCxnSpPr>
        <p:spPr>
          <a:xfrm flipV="1">
            <a:off x="6263781" y="1807813"/>
            <a:ext cx="0" cy="1076128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546CDFD6-84F4-88C7-70EF-BF4A8AC8CD8A}"/>
              </a:ext>
            </a:extLst>
          </p:cNvPr>
          <p:cNvCxnSpPr>
            <a:cxnSpLocks/>
          </p:cNvCxnSpPr>
          <p:nvPr/>
        </p:nvCxnSpPr>
        <p:spPr>
          <a:xfrm flipV="1">
            <a:off x="7772647" y="1826915"/>
            <a:ext cx="0" cy="1076128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45B6D2D6-DEA1-F475-063B-D12782447BAB}"/>
              </a:ext>
            </a:extLst>
          </p:cNvPr>
          <p:cNvCxnSpPr>
            <a:cxnSpLocks/>
          </p:cNvCxnSpPr>
          <p:nvPr/>
        </p:nvCxnSpPr>
        <p:spPr>
          <a:xfrm flipV="1">
            <a:off x="9419300" y="1783804"/>
            <a:ext cx="0" cy="1076128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5B14165C-8A51-F0DB-01F4-851D79A8F62B}"/>
              </a:ext>
            </a:extLst>
          </p:cNvPr>
          <p:cNvSpPr txBox="1"/>
          <p:nvPr/>
        </p:nvSpPr>
        <p:spPr>
          <a:xfrm>
            <a:off x="4117356" y="5535880"/>
            <a:ext cx="32666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Execution plan: each agent runs sequentially with priority</a:t>
            </a: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29EEDFFF-1E99-411E-D750-45AF80075F66}"/>
              </a:ext>
            </a:extLst>
          </p:cNvPr>
          <p:cNvSpPr txBox="1"/>
          <p:nvPr/>
        </p:nvSpPr>
        <p:spPr>
          <a:xfrm>
            <a:off x="6055976" y="1240355"/>
            <a:ext cx="2667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Results</a:t>
            </a: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ACB36E96-BC3A-B3D9-F6D6-03EB9C1C96ED}"/>
              </a:ext>
            </a:extLst>
          </p:cNvPr>
          <p:cNvSpPr txBox="1"/>
          <p:nvPr/>
        </p:nvSpPr>
        <p:spPr>
          <a:xfrm>
            <a:off x="493559" y="5569984"/>
            <a:ext cx="2058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 agent runs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ReAct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loop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BED2DDEA-DAAF-A9E6-2139-06D5E37CD277}"/>
              </a:ext>
            </a:extLst>
          </p:cNvPr>
          <p:cNvGrpSpPr/>
          <p:nvPr/>
        </p:nvGrpSpPr>
        <p:grpSpPr>
          <a:xfrm>
            <a:off x="4058547" y="3057981"/>
            <a:ext cx="1196465" cy="919783"/>
            <a:chOff x="2736" y="1373585"/>
            <a:chExt cx="1196465" cy="919783"/>
          </a:xfrm>
        </p:grpSpPr>
        <p:sp>
          <p:nvSpPr>
            <p:cNvPr id="4" name="Rettangolo con angoli arrotondati 3">
              <a:extLst>
                <a:ext uri="{FF2B5EF4-FFF2-40B4-BE49-F238E27FC236}">
                  <a16:creationId xmlns:a16="http://schemas.microsoft.com/office/drawing/2014/main" id="{EA018225-677D-AE1A-EBFF-DD186FFB8FBE}"/>
                </a:ext>
              </a:extLst>
            </p:cNvPr>
            <p:cNvSpPr/>
            <p:nvPr/>
          </p:nvSpPr>
          <p:spPr>
            <a:xfrm>
              <a:off x="2736" y="1373585"/>
              <a:ext cx="1196465" cy="9197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6314DDF7-BCF4-A030-5A19-83EC5DB9F63F}"/>
                </a:ext>
              </a:extLst>
            </p:cNvPr>
            <p:cNvSpPr txBox="1"/>
            <p:nvPr/>
          </p:nvSpPr>
          <p:spPr>
            <a:xfrm>
              <a:off x="29676" y="1400525"/>
              <a:ext cx="1142585" cy="8659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1700" kern="1200" dirty="0"/>
                <a:t>Vision Agent</a:t>
              </a:r>
            </a:p>
          </p:txBody>
        </p:sp>
      </p:grpSp>
      <p:grpSp>
        <p:nvGrpSpPr>
          <p:cNvPr id="6" name="Gruppo 5">
            <a:extLst>
              <a:ext uri="{FF2B5EF4-FFF2-40B4-BE49-F238E27FC236}">
                <a16:creationId xmlns:a16="http://schemas.microsoft.com/office/drawing/2014/main" id="{35D44974-9188-3699-A18D-1794FBF59143}"/>
              </a:ext>
            </a:extLst>
          </p:cNvPr>
          <p:cNvGrpSpPr/>
          <p:nvPr/>
        </p:nvGrpSpPr>
        <p:grpSpPr>
          <a:xfrm>
            <a:off x="5681426" y="3057398"/>
            <a:ext cx="1196465" cy="919783"/>
            <a:chOff x="1677788" y="1373585"/>
            <a:chExt cx="1196465" cy="919783"/>
          </a:xfrm>
        </p:grpSpPr>
        <p:sp>
          <p:nvSpPr>
            <p:cNvPr id="14" name="Rettangolo con angoli arrotondati 13">
              <a:extLst>
                <a:ext uri="{FF2B5EF4-FFF2-40B4-BE49-F238E27FC236}">
                  <a16:creationId xmlns:a16="http://schemas.microsoft.com/office/drawing/2014/main" id="{93586CCF-6412-C800-100D-04106519B598}"/>
                </a:ext>
              </a:extLst>
            </p:cNvPr>
            <p:cNvSpPr/>
            <p:nvPr/>
          </p:nvSpPr>
          <p:spPr>
            <a:xfrm>
              <a:off x="1677788" y="1373585"/>
              <a:ext cx="1196465" cy="9197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48E51B02-E68A-A62F-8F4C-048AC43D000E}"/>
                </a:ext>
              </a:extLst>
            </p:cNvPr>
            <p:cNvSpPr txBox="1"/>
            <p:nvPr/>
          </p:nvSpPr>
          <p:spPr>
            <a:xfrm>
              <a:off x="1704728" y="1400525"/>
              <a:ext cx="1142585" cy="8659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1700" kern="1200" dirty="0"/>
                <a:t>Cost </a:t>
              </a:r>
              <a:r>
                <a:rPr lang="it-IT" sz="1700" kern="1200" dirty="0" err="1"/>
                <a:t>Primary</a:t>
              </a:r>
              <a:r>
                <a:rPr lang="it-IT" sz="1700" kern="1200" dirty="0"/>
                <a:t> Agent</a:t>
              </a:r>
            </a:p>
          </p:txBody>
        </p:sp>
      </p:grp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4B4BD736-D718-5EDB-392C-384436BFDA43}"/>
              </a:ext>
            </a:extLst>
          </p:cNvPr>
          <p:cNvGrpSpPr/>
          <p:nvPr/>
        </p:nvGrpSpPr>
        <p:grpSpPr>
          <a:xfrm>
            <a:off x="8891991" y="3026645"/>
            <a:ext cx="1196465" cy="919783"/>
            <a:chOff x="5027893" y="1373585"/>
            <a:chExt cx="1196465" cy="919783"/>
          </a:xfrm>
        </p:grpSpPr>
        <p:sp>
          <p:nvSpPr>
            <p:cNvPr id="19" name="Rettangolo con angoli arrotondati 18">
              <a:extLst>
                <a:ext uri="{FF2B5EF4-FFF2-40B4-BE49-F238E27FC236}">
                  <a16:creationId xmlns:a16="http://schemas.microsoft.com/office/drawing/2014/main" id="{A6A2A2D8-E6A7-A756-1093-2FB4F2515788}"/>
                </a:ext>
              </a:extLst>
            </p:cNvPr>
            <p:cNvSpPr/>
            <p:nvPr/>
          </p:nvSpPr>
          <p:spPr>
            <a:xfrm>
              <a:off x="5027893" y="1373585"/>
              <a:ext cx="1196465" cy="9197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5656183D-E338-8559-7AC5-135A51737CE6}"/>
                </a:ext>
              </a:extLst>
            </p:cNvPr>
            <p:cNvSpPr txBox="1"/>
            <p:nvPr/>
          </p:nvSpPr>
          <p:spPr>
            <a:xfrm>
              <a:off x="5054833" y="1400525"/>
              <a:ext cx="1142585" cy="8659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1700" kern="1200" dirty="0"/>
                <a:t>Shop Finder Agent</a:t>
              </a:r>
            </a:p>
          </p:txBody>
        </p:sp>
      </p:grp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525FBBC3-B541-D0D3-C773-28E101791CC6}"/>
              </a:ext>
            </a:extLst>
          </p:cNvPr>
          <p:cNvGrpSpPr/>
          <p:nvPr/>
        </p:nvGrpSpPr>
        <p:grpSpPr>
          <a:xfrm>
            <a:off x="7269112" y="3030741"/>
            <a:ext cx="1196465" cy="919783"/>
            <a:chOff x="3352841" y="1373585"/>
            <a:chExt cx="1196465" cy="919783"/>
          </a:xfrm>
        </p:grpSpPr>
        <p:sp>
          <p:nvSpPr>
            <p:cNvPr id="28" name="Rettangolo con angoli arrotondati 27">
              <a:extLst>
                <a:ext uri="{FF2B5EF4-FFF2-40B4-BE49-F238E27FC236}">
                  <a16:creationId xmlns:a16="http://schemas.microsoft.com/office/drawing/2014/main" id="{29790281-734F-EE6E-C83C-71DF7B782DE7}"/>
                </a:ext>
              </a:extLst>
            </p:cNvPr>
            <p:cNvSpPr/>
            <p:nvPr/>
          </p:nvSpPr>
          <p:spPr>
            <a:xfrm>
              <a:off x="3352841" y="1373585"/>
              <a:ext cx="1196465" cy="9197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C4708006-8A88-B218-0226-31A81340DECA}"/>
                </a:ext>
              </a:extLst>
            </p:cNvPr>
            <p:cNvSpPr txBox="1"/>
            <p:nvPr/>
          </p:nvSpPr>
          <p:spPr>
            <a:xfrm>
              <a:off x="3379781" y="1400525"/>
              <a:ext cx="1142585" cy="8659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1700" kern="1200" dirty="0"/>
                <a:t>Cost Alternative Agent</a:t>
              </a:r>
            </a:p>
          </p:txBody>
        </p:sp>
      </p:grpSp>
      <p:grpSp>
        <p:nvGrpSpPr>
          <p:cNvPr id="36" name="Gruppo 35">
            <a:extLst>
              <a:ext uri="{FF2B5EF4-FFF2-40B4-BE49-F238E27FC236}">
                <a16:creationId xmlns:a16="http://schemas.microsoft.com/office/drawing/2014/main" id="{EBC29090-CA15-4259-8ED0-19276A9A9FC1}"/>
              </a:ext>
            </a:extLst>
          </p:cNvPr>
          <p:cNvGrpSpPr/>
          <p:nvPr/>
        </p:nvGrpSpPr>
        <p:grpSpPr>
          <a:xfrm>
            <a:off x="2488951" y="3057398"/>
            <a:ext cx="1196465" cy="919783"/>
            <a:chOff x="2736" y="1373585"/>
            <a:chExt cx="1196465" cy="919783"/>
          </a:xfrm>
        </p:grpSpPr>
        <p:sp>
          <p:nvSpPr>
            <p:cNvPr id="37" name="Rettangolo con angoli arrotondati 36">
              <a:extLst>
                <a:ext uri="{FF2B5EF4-FFF2-40B4-BE49-F238E27FC236}">
                  <a16:creationId xmlns:a16="http://schemas.microsoft.com/office/drawing/2014/main" id="{41CFCE0C-9211-E85B-F2C6-5DD6B828CB54}"/>
                </a:ext>
              </a:extLst>
            </p:cNvPr>
            <p:cNvSpPr/>
            <p:nvPr/>
          </p:nvSpPr>
          <p:spPr>
            <a:xfrm>
              <a:off x="2736" y="1373585"/>
              <a:ext cx="1196465" cy="9197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45" name="CasellaDiTesto 44">
              <a:extLst>
                <a:ext uri="{FF2B5EF4-FFF2-40B4-BE49-F238E27FC236}">
                  <a16:creationId xmlns:a16="http://schemas.microsoft.com/office/drawing/2014/main" id="{A5A173E4-098B-61D7-8710-44FD6011FC5E}"/>
                </a:ext>
              </a:extLst>
            </p:cNvPr>
            <p:cNvSpPr txBox="1"/>
            <p:nvPr/>
          </p:nvSpPr>
          <p:spPr>
            <a:xfrm>
              <a:off x="29676" y="1400525"/>
              <a:ext cx="1142585" cy="8659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1700" kern="1200" dirty="0"/>
                <a:t>Photo Quality Agent</a:t>
              </a:r>
            </a:p>
          </p:txBody>
        </p:sp>
      </p:grp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8DFF36E6-7983-CF2C-4743-D10019C19115}"/>
              </a:ext>
            </a:extLst>
          </p:cNvPr>
          <p:cNvCxnSpPr>
            <a:cxnSpLocks/>
          </p:cNvCxnSpPr>
          <p:nvPr/>
        </p:nvCxnSpPr>
        <p:spPr>
          <a:xfrm flipV="1">
            <a:off x="3061448" y="1890525"/>
            <a:ext cx="0" cy="1076128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998EB9F2-A34E-6BD1-408A-F52F4EC04F04}"/>
              </a:ext>
            </a:extLst>
          </p:cNvPr>
          <p:cNvCxnSpPr>
            <a:cxnSpLocks/>
          </p:cNvCxnSpPr>
          <p:nvPr/>
        </p:nvCxnSpPr>
        <p:spPr>
          <a:xfrm flipV="1">
            <a:off x="3124203" y="4089279"/>
            <a:ext cx="0" cy="1076128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417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658CD7-6FC9-5F75-E8C0-5ABFCC349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251092FA-685D-BDA9-4F10-92B1B6942EC3}"/>
              </a:ext>
            </a:extLst>
          </p:cNvPr>
          <p:cNvSpPr txBox="1"/>
          <p:nvPr/>
        </p:nvSpPr>
        <p:spPr>
          <a:xfrm>
            <a:off x="1464128" y="273000"/>
            <a:ext cx="92637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Multi-Agent System from Scratch for the Car </a:t>
            </a:r>
            <a:r>
              <a:rPr lang="it-IT" sz="28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Damage</a:t>
            </a:r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Evaluation</a:t>
            </a:r>
          </a:p>
        </p:txBody>
      </p:sp>
      <p:sp>
        <p:nvSpPr>
          <p:cNvPr id="3" name="Freccia in giù 2">
            <a:extLst>
              <a:ext uri="{FF2B5EF4-FFF2-40B4-BE49-F238E27FC236}">
                <a16:creationId xmlns:a16="http://schemas.microsoft.com/office/drawing/2014/main" id="{4288A59A-E10C-1191-8B1A-55CD12C289F2}"/>
              </a:ext>
            </a:extLst>
          </p:cNvPr>
          <p:cNvSpPr/>
          <p:nvPr/>
        </p:nvSpPr>
        <p:spPr>
          <a:xfrm>
            <a:off x="10123713" y="3078026"/>
            <a:ext cx="756557" cy="954107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77D5524-13B8-85DA-1162-416AD1AAC11A}"/>
              </a:ext>
            </a:extLst>
          </p:cNvPr>
          <p:cNvSpPr txBox="1"/>
          <p:nvPr/>
        </p:nvSpPr>
        <p:spPr>
          <a:xfrm>
            <a:off x="9640010" y="1451792"/>
            <a:ext cx="2109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Input data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ECD2C251-2707-E5EA-FE5A-1B646B76322D}"/>
              </a:ext>
            </a:extLst>
          </p:cNvPr>
          <p:cNvSpPr txBox="1"/>
          <p:nvPr/>
        </p:nvSpPr>
        <p:spPr>
          <a:xfrm>
            <a:off x="9447438" y="2383971"/>
            <a:ext cx="2109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 to the App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B13B826-65B5-6B55-ACC7-F29483325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40" y="1719943"/>
            <a:ext cx="9012550" cy="4484211"/>
          </a:xfrm>
          <a:prstGeom prst="rect">
            <a:avLst/>
          </a:prstGeom>
        </p:spPr>
      </p:pic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A006D862-41CC-E5FC-F14E-D6FAA7170398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1710813" y="1651847"/>
            <a:ext cx="7929197" cy="313646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8A02F2A6-85A0-DDB2-20DD-4D2C469A3AC1}"/>
              </a:ext>
            </a:extLst>
          </p:cNvPr>
          <p:cNvCxnSpPr>
            <a:cxnSpLocks/>
          </p:cNvCxnSpPr>
          <p:nvPr/>
        </p:nvCxnSpPr>
        <p:spPr>
          <a:xfrm flipH="1">
            <a:off x="7010400" y="1719943"/>
            <a:ext cx="2601686" cy="139688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7" name="Immagine 16">
            <a:extLst>
              <a:ext uri="{FF2B5EF4-FFF2-40B4-BE49-F238E27FC236}">
                <a16:creationId xmlns:a16="http://schemas.microsoft.com/office/drawing/2014/main" id="{B0841C04-524E-00FD-4885-E9A577313F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7438" y="4255689"/>
            <a:ext cx="2329311" cy="232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722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B9F588-052A-143D-6611-C1F5A1AD0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E4FA48AC-0BC7-05A5-C514-88D4A73C374F}"/>
              </a:ext>
            </a:extLst>
          </p:cNvPr>
          <p:cNvSpPr txBox="1"/>
          <p:nvPr/>
        </p:nvSpPr>
        <p:spPr>
          <a:xfrm>
            <a:off x="1464128" y="273000"/>
            <a:ext cx="92637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Multi-Agent System from Scratch for the Car </a:t>
            </a:r>
            <a:r>
              <a:rPr lang="it-IT" sz="28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Damage</a:t>
            </a:r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Evaluation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8FAB455-F99C-B8DF-043D-A754B16AF99C}"/>
              </a:ext>
            </a:extLst>
          </p:cNvPr>
          <p:cNvSpPr txBox="1"/>
          <p:nvPr/>
        </p:nvSpPr>
        <p:spPr>
          <a:xfrm>
            <a:off x="9966249" y="2851355"/>
            <a:ext cx="16277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Photo Quality Agent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5429EF3-3EC4-D5B3-D837-3DB3CA18D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93" y="1710813"/>
            <a:ext cx="8771516" cy="461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2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5DA30-0345-B18A-833B-7B1CB104F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8DAA6D8F-A054-EE86-2BA8-631EFD0E6B25}"/>
              </a:ext>
            </a:extLst>
          </p:cNvPr>
          <p:cNvSpPr txBox="1"/>
          <p:nvPr/>
        </p:nvSpPr>
        <p:spPr>
          <a:xfrm>
            <a:off x="1464128" y="273000"/>
            <a:ext cx="92637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Multi-Agent System from Scratch for the Car </a:t>
            </a:r>
            <a:r>
              <a:rPr lang="it-IT" sz="28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Damage</a:t>
            </a:r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Evaluation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24E43A8-3050-A669-5AF5-3B95D9476E92}"/>
              </a:ext>
            </a:extLst>
          </p:cNvPr>
          <p:cNvSpPr txBox="1"/>
          <p:nvPr/>
        </p:nvSpPr>
        <p:spPr>
          <a:xfrm>
            <a:off x="9640010" y="1451792"/>
            <a:ext cx="21091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Damage</a:t>
            </a:r>
            <a:r>
              <a:rPr lang="it-IT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Analysis from Vision Agent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9B48177-C1A9-DDC7-018C-6E7E6AC1D94D}"/>
              </a:ext>
            </a:extLst>
          </p:cNvPr>
          <p:cNvSpPr txBox="1"/>
          <p:nvPr/>
        </p:nvSpPr>
        <p:spPr>
          <a:xfrm>
            <a:off x="9792410" y="3792221"/>
            <a:ext cx="21091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Cost </a:t>
            </a:r>
            <a:r>
              <a:rPr lang="it-IT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estimation</a:t>
            </a:r>
            <a:r>
              <a:rPr lang="it-IT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from Cost Agents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B97AB5D-19B7-5BA9-3B5E-B911F6999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478" y="1227107"/>
            <a:ext cx="6327151" cy="542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353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CBDBD9-6D25-16D1-FC0A-40D13FC58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AA506778-379F-9C9E-A638-F191CA6105CA}"/>
              </a:ext>
            </a:extLst>
          </p:cNvPr>
          <p:cNvSpPr txBox="1"/>
          <p:nvPr/>
        </p:nvSpPr>
        <p:spPr>
          <a:xfrm>
            <a:off x="1464128" y="273000"/>
            <a:ext cx="92637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Multi-Agent System from Scratch for the Car </a:t>
            </a:r>
            <a:r>
              <a:rPr lang="it-IT" sz="28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Damage</a:t>
            </a:r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Evaluation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72C228E-B80A-9FF4-A42F-57C9584A4645}"/>
              </a:ext>
            </a:extLst>
          </p:cNvPr>
          <p:cNvSpPr txBox="1"/>
          <p:nvPr/>
        </p:nvSpPr>
        <p:spPr>
          <a:xfrm>
            <a:off x="10005332" y="1952534"/>
            <a:ext cx="21091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Repair</a:t>
            </a:r>
            <a:r>
              <a:rPr lang="it-IT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shops from Shop Finder Agent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E1932CBB-8C51-12F8-FB67-8868B847D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910" y="1361849"/>
            <a:ext cx="6303047" cy="540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094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35CE8-CF64-81B9-731C-736DD465E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FA0E4591-E5E3-9B35-D0FA-CF43800C34B6}"/>
              </a:ext>
            </a:extLst>
          </p:cNvPr>
          <p:cNvSpPr txBox="1"/>
          <p:nvPr/>
        </p:nvSpPr>
        <p:spPr>
          <a:xfrm>
            <a:off x="1464128" y="273000"/>
            <a:ext cx="92637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Multi-Agent System from Scratch for the Car </a:t>
            </a:r>
            <a:r>
              <a:rPr lang="it-IT" sz="28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Damage</a:t>
            </a:r>
            <a:r>
              <a:rPr lang="it-IT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Evaluation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0B2BBF8-4FC6-E450-3AD6-2D55BD6AD7B2}"/>
              </a:ext>
            </a:extLst>
          </p:cNvPr>
          <p:cNvSpPr txBox="1"/>
          <p:nvPr/>
        </p:nvSpPr>
        <p:spPr>
          <a:xfrm>
            <a:off x="9502914" y="1890978"/>
            <a:ext cx="21091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ReAct</a:t>
            </a:r>
            <a:r>
              <a:rPr lang="it-IT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log from the Orchestrator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A0984C7-6BF2-D474-0537-46083809F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573" y="1422012"/>
            <a:ext cx="6779226" cy="516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3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119E44-2A01-1E9F-FCA2-AA35CB942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B84C0D8-154E-9F33-4AAE-649A64B3C11A}"/>
              </a:ext>
            </a:extLst>
          </p:cNvPr>
          <p:cNvSpPr txBox="1"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about a comparison between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Multi-Agent System and Traditional Tools?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CBBB0CDA-73B9-6469-2963-4C78A4D99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001839"/>
              </p:ext>
            </p:extLst>
          </p:nvPr>
        </p:nvGraphicFramePr>
        <p:xfrm>
          <a:off x="3942735" y="816077"/>
          <a:ext cx="7040235" cy="50767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7468">
                  <a:extLst>
                    <a:ext uri="{9D8B030D-6E8A-4147-A177-3AD203B41FA5}">
                      <a16:colId xmlns:a16="http://schemas.microsoft.com/office/drawing/2014/main" val="4152238946"/>
                    </a:ext>
                  </a:extLst>
                </a:gridCol>
                <a:gridCol w="3121654">
                  <a:extLst>
                    <a:ext uri="{9D8B030D-6E8A-4147-A177-3AD203B41FA5}">
                      <a16:colId xmlns:a16="http://schemas.microsoft.com/office/drawing/2014/main" val="3274951531"/>
                    </a:ext>
                  </a:extLst>
                </a:gridCol>
                <a:gridCol w="2561113">
                  <a:extLst>
                    <a:ext uri="{9D8B030D-6E8A-4147-A177-3AD203B41FA5}">
                      <a16:colId xmlns:a16="http://schemas.microsoft.com/office/drawing/2014/main" val="2077625077"/>
                    </a:ext>
                  </a:extLst>
                </a:gridCol>
              </a:tblGrid>
              <a:tr h="508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 err="1">
                          <a:effectLst/>
                        </a:rPr>
                        <a:t>Dimension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5" marR="9925" marT="99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Computer Vision Deep Learning (CNN)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5" marR="9925" marT="99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Multi-Agent System (MAS)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5" marR="9925" marT="9925" marB="0" anchor="ctr"/>
                </a:tc>
                <a:extLst>
                  <a:ext uri="{0D108BD9-81ED-4DB2-BD59-A6C34878D82A}">
                    <a16:rowId xmlns:a16="http://schemas.microsoft.com/office/drawing/2014/main" val="1985073467"/>
                  </a:ext>
                </a:extLst>
              </a:tr>
              <a:tr h="9585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Generalization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5" marR="9925" marT="99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Limited to inputs </a:t>
                      </a:r>
                      <a:r>
                        <a:rPr lang="it-IT" sz="1400" u="none" strike="noStrike" dirty="0" err="1">
                          <a:effectLst/>
                        </a:rPr>
                        <a:t>similar</a:t>
                      </a:r>
                      <a:r>
                        <a:rPr lang="it-IT" sz="1400" u="none" strike="noStrike" dirty="0">
                          <a:effectLst/>
                        </a:rPr>
                        <a:t> to training data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5" marR="9925" marT="99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Reasons about unseen damage patterns: produces novel, context-aware descriptions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5" marR="9925" marT="9925" marB="0" anchor="ctr"/>
                </a:tc>
                <a:extLst>
                  <a:ext uri="{0D108BD9-81ED-4DB2-BD59-A6C34878D82A}">
                    <a16:rowId xmlns:a16="http://schemas.microsoft.com/office/drawing/2014/main" val="1416879060"/>
                  </a:ext>
                </a:extLst>
              </a:tr>
              <a:tr h="11833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Objective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5" marR="9925" marT="99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Answer</a:t>
                      </a:r>
                      <a:r>
                        <a:rPr lang="it-IT" sz="1400" u="none" strike="noStrike" dirty="0">
                          <a:effectLst/>
                        </a:rPr>
                        <a:t> one </a:t>
                      </a:r>
                      <a:r>
                        <a:rPr lang="it-IT" sz="1400" u="none" strike="noStrike" dirty="0" err="1">
                          <a:effectLst/>
                        </a:rPr>
                        <a:t>question</a:t>
                      </a:r>
                      <a:r>
                        <a:rPr lang="it-IT" sz="1400" u="none" strike="noStrike" dirty="0">
                          <a:effectLst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</a:rPr>
                        <a:t>at</a:t>
                      </a:r>
                      <a:r>
                        <a:rPr lang="it-IT" sz="1400" u="none" strike="noStrike" dirty="0">
                          <a:effectLst/>
                        </a:rPr>
                        <a:t> a time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5" marR="9925" marT="99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End-to-end </a:t>
                      </a:r>
                      <a:r>
                        <a:rPr lang="it-IT" sz="1400" u="none" strike="noStrike" dirty="0" err="1">
                          <a:effectLst/>
                        </a:rPr>
                        <a:t>assessment</a:t>
                      </a:r>
                      <a:r>
                        <a:rPr lang="it-IT" sz="1400" u="none" strike="noStrike" dirty="0">
                          <a:effectLst/>
                        </a:rPr>
                        <a:t>: in a single </a:t>
                      </a:r>
                      <a:r>
                        <a:rPr lang="it-IT" sz="1400" u="none" strike="noStrike" dirty="0" err="1">
                          <a:effectLst/>
                        </a:rPr>
                        <a:t>run</a:t>
                      </a:r>
                      <a:r>
                        <a:rPr lang="it-IT" sz="1400" u="none" strike="noStrike" dirty="0">
                          <a:effectLst/>
                        </a:rPr>
                        <a:t> photo </a:t>
                      </a:r>
                      <a:r>
                        <a:rPr lang="it-IT" sz="1400" u="none" strike="noStrike" dirty="0" err="1">
                          <a:effectLst/>
                        </a:rPr>
                        <a:t>quality</a:t>
                      </a:r>
                      <a:r>
                        <a:rPr lang="it-IT" sz="1400" u="none" strike="noStrike" dirty="0">
                          <a:effectLst/>
                        </a:rPr>
                        <a:t>, </a:t>
                      </a:r>
                      <a:r>
                        <a:rPr lang="it-IT" sz="1400" u="none" strike="noStrike" dirty="0" err="1">
                          <a:effectLst/>
                        </a:rPr>
                        <a:t>damage</a:t>
                      </a:r>
                      <a:r>
                        <a:rPr lang="it-IT" sz="1400" u="none" strike="noStrike" dirty="0">
                          <a:effectLst/>
                        </a:rPr>
                        <a:t>, </a:t>
                      </a:r>
                      <a:r>
                        <a:rPr lang="it-IT" sz="1400" u="none" strike="noStrike" dirty="0" err="1">
                          <a:effectLst/>
                        </a:rPr>
                        <a:t>severity</a:t>
                      </a:r>
                      <a:r>
                        <a:rPr lang="it-IT" sz="1400" u="none" strike="noStrike" dirty="0">
                          <a:effectLst/>
                        </a:rPr>
                        <a:t>, cost, and </a:t>
                      </a:r>
                      <a:r>
                        <a:rPr lang="it-IT" sz="1400" u="none" strike="noStrike" dirty="0" err="1">
                          <a:effectLst/>
                        </a:rPr>
                        <a:t>repair</a:t>
                      </a:r>
                      <a:r>
                        <a:rPr lang="it-IT" sz="1400" u="none" strike="noStrike" dirty="0">
                          <a:effectLst/>
                        </a:rPr>
                        <a:t> locations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5" marR="9925" marT="9925" marB="0" anchor="ctr"/>
                </a:tc>
                <a:extLst>
                  <a:ext uri="{0D108BD9-81ED-4DB2-BD59-A6C34878D82A}">
                    <a16:rowId xmlns:a16="http://schemas.microsoft.com/office/drawing/2014/main" val="840256212"/>
                  </a:ext>
                </a:extLst>
              </a:tr>
              <a:tr h="7337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Adaptability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5" marR="9925" marT="99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Static: requires manual updates or model retraining to reflect market changes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5" marR="9925" marT="99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Dynamic: retrieves live market data at query-time via search-powered agents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5" marR="9925" marT="9925" marB="0" anchor="ctr"/>
                </a:tc>
                <a:extLst>
                  <a:ext uri="{0D108BD9-81ED-4DB2-BD59-A6C34878D82A}">
                    <a16:rowId xmlns:a16="http://schemas.microsoft.com/office/drawing/2014/main" val="2750485730"/>
                  </a:ext>
                </a:extLst>
              </a:tr>
              <a:tr h="9585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Explainability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5" marR="9925" marT="99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Black - Box Classification: produces an output without justification or logic path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5" marR="9925" marT="99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Transparent at agent layer: explanation with ReAct trace; black-box on underlying VLM/LLM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5" marR="9925" marT="9925" marB="0" anchor="ctr"/>
                </a:tc>
                <a:extLst>
                  <a:ext uri="{0D108BD9-81ED-4DB2-BD59-A6C34878D82A}">
                    <a16:rowId xmlns:a16="http://schemas.microsoft.com/office/drawing/2014/main" val="2833072556"/>
                  </a:ext>
                </a:extLst>
              </a:tr>
              <a:tr h="7337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Modularity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5" marR="9925" marT="99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Monolithic</a:t>
                      </a:r>
                      <a:r>
                        <a:rPr lang="it-IT" sz="1400" u="none" strike="noStrike" dirty="0">
                          <a:effectLst/>
                        </a:rPr>
                        <a:t> Scripts: the </a:t>
                      </a:r>
                      <a:r>
                        <a:rPr lang="it-IT" sz="1400" u="none" strike="noStrike" dirty="0" err="1">
                          <a:effectLst/>
                        </a:rPr>
                        <a:t>entire</a:t>
                      </a:r>
                      <a:r>
                        <a:rPr lang="it-IT" sz="1400" u="none" strike="noStrike" dirty="0">
                          <a:effectLst/>
                        </a:rPr>
                        <a:t> pipeline </a:t>
                      </a:r>
                      <a:r>
                        <a:rPr lang="it-IT" sz="1400" u="none" strike="noStrike" dirty="0" err="1">
                          <a:effectLst/>
                        </a:rPr>
                        <a:t>often</a:t>
                      </a:r>
                      <a:r>
                        <a:rPr lang="it-IT" sz="1400" u="none" strike="noStrike" dirty="0">
                          <a:effectLst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</a:rPr>
                        <a:t>needs</a:t>
                      </a:r>
                      <a:r>
                        <a:rPr lang="it-IT" sz="1400" u="none" strike="noStrike" dirty="0">
                          <a:effectLst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</a:rPr>
                        <a:t>retraining</a:t>
                      </a:r>
                      <a:r>
                        <a:rPr lang="it-IT" sz="1400" u="none" strike="noStrike" dirty="0">
                          <a:effectLst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</a:rPr>
                        <a:t>if</a:t>
                      </a:r>
                      <a:r>
                        <a:rPr lang="it-IT" sz="1400" u="none" strike="noStrike" dirty="0">
                          <a:effectLst/>
                        </a:rPr>
                        <a:t> one part </a:t>
                      </a:r>
                      <a:r>
                        <a:rPr lang="it-IT" sz="1400" u="none" strike="noStrike" dirty="0" err="1">
                          <a:effectLst/>
                        </a:rPr>
                        <a:t>changes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5" marR="9925" marT="99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Swappable</a:t>
                      </a:r>
                      <a:r>
                        <a:rPr lang="it-IT" sz="1400" u="none" strike="noStrike" dirty="0">
                          <a:effectLst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</a:rPr>
                        <a:t>modules</a:t>
                      </a:r>
                      <a:r>
                        <a:rPr lang="it-IT" sz="1400" u="none" strike="noStrike" dirty="0">
                          <a:effectLst/>
                        </a:rPr>
                        <a:t>: </a:t>
                      </a:r>
                      <a:r>
                        <a:rPr lang="it-IT" sz="1400" u="none" strike="noStrike" dirty="0" err="1">
                          <a:effectLst/>
                        </a:rPr>
                        <a:t>allows</a:t>
                      </a:r>
                      <a:r>
                        <a:rPr lang="it-IT" sz="1400" u="none" strike="noStrike" dirty="0">
                          <a:effectLst/>
                        </a:rPr>
                        <a:t> for </a:t>
                      </a:r>
                      <a:r>
                        <a:rPr lang="it-IT" sz="1400" u="none" strike="noStrike" dirty="0" err="1">
                          <a:effectLst/>
                        </a:rPr>
                        <a:t>hybrid</a:t>
                      </a:r>
                      <a:r>
                        <a:rPr lang="it-IT" sz="1400" u="none" strike="noStrike" dirty="0">
                          <a:effectLst/>
                        </a:rPr>
                        <a:t> mix of </a:t>
                      </a:r>
                      <a:r>
                        <a:rPr lang="it-IT" sz="1400" u="none" strike="noStrike" dirty="0" err="1">
                          <a:effectLst/>
                        </a:rPr>
                        <a:t>GenAI</a:t>
                      </a:r>
                      <a:r>
                        <a:rPr lang="it-IT" sz="1400" u="none" strike="noStrike" dirty="0">
                          <a:effectLst/>
                        </a:rPr>
                        <a:t> and </a:t>
                      </a:r>
                      <a:r>
                        <a:rPr lang="it-IT" sz="1400" u="none" strike="noStrike" dirty="0" err="1">
                          <a:effectLst/>
                        </a:rPr>
                        <a:t>deterministic</a:t>
                      </a:r>
                      <a:r>
                        <a:rPr lang="it-IT" sz="1400" u="none" strike="noStrike" dirty="0">
                          <a:effectLst/>
                        </a:rPr>
                        <a:t>/</a:t>
                      </a:r>
                      <a:r>
                        <a:rPr lang="it-IT" sz="1400" u="none" strike="noStrike" dirty="0" err="1">
                          <a:effectLst/>
                        </a:rPr>
                        <a:t>proprietary</a:t>
                      </a:r>
                      <a:r>
                        <a:rPr lang="it-IT" sz="1400" u="none" strike="noStrike" dirty="0">
                          <a:effectLst/>
                        </a:rPr>
                        <a:t> tools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5" marR="9925" marT="9925" marB="0" anchor="ctr"/>
                </a:tc>
                <a:extLst>
                  <a:ext uri="{0D108BD9-81ED-4DB2-BD59-A6C34878D82A}">
                    <a16:rowId xmlns:a16="http://schemas.microsoft.com/office/drawing/2014/main" val="588249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682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BCDA43-1667-A434-7A14-3DF368CC4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0742E18-6D26-F289-3888-3F4D73DACE82}"/>
              </a:ext>
            </a:extLst>
          </p:cNvPr>
          <p:cNvSpPr txBox="1"/>
          <p:nvPr/>
        </p:nvSpPr>
        <p:spPr>
          <a:xfrm>
            <a:off x="640080" y="2074363"/>
            <a:ext cx="2856746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Technical Constraints &amp; Risk Management</a:t>
            </a: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7AAA4AAF-9F1D-009C-6B11-ADE282B10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352388"/>
              </p:ext>
            </p:extLst>
          </p:nvPr>
        </p:nvGraphicFramePr>
        <p:xfrm>
          <a:off x="3854246" y="1769806"/>
          <a:ext cx="7334864" cy="36575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8566">
                  <a:extLst>
                    <a:ext uri="{9D8B030D-6E8A-4147-A177-3AD203B41FA5}">
                      <a16:colId xmlns:a16="http://schemas.microsoft.com/office/drawing/2014/main" val="1638998250"/>
                    </a:ext>
                  </a:extLst>
                </a:gridCol>
                <a:gridCol w="3102662">
                  <a:extLst>
                    <a:ext uri="{9D8B030D-6E8A-4147-A177-3AD203B41FA5}">
                      <a16:colId xmlns:a16="http://schemas.microsoft.com/office/drawing/2014/main" val="992240836"/>
                    </a:ext>
                  </a:extLst>
                </a:gridCol>
                <a:gridCol w="2573636">
                  <a:extLst>
                    <a:ext uri="{9D8B030D-6E8A-4147-A177-3AD203B41FA5}">
                      <a16:colId xmlns:a16="http://schemas.microsoft.com/office/drawing/2014/main" val="498918219"/>
                    </a:ext>
                  </a:extLst>
                </a:gridCol>
              </a:tblGrid>
              <a:tr h="2718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Risk </a:t>
                      </a:r>
                      <a:r>
                        <a:rPr lang="it-IT" sz="1400" b="1" u="none" strike="noStrike" dirty="0" err="1">
                          <a:effectLst/>
                        </a:rPr>
                        <a:t>Category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 err="1">
                          <a:effectLst/>
                        </a:rPr>
                        <a:t>Constraint</a:t>
                      </a:r>
                      <a:r>
                        <a:rPr lang="it-IT" sz="1400" b="1" u="none" strike="noStrike" dirty="0">
                          <a:effectLst/>
                        </a:rPr>
                        <a:t> </a:t>
                      </a:r>
                      <a:r>
                        <a:rPr lang="it-IT" sz="1400" b="1" u="none" strike="noStrike" dirty="0" err="1">
                          <a:effectLst/>
                        </a:rPr>
                        <a:t>Detail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 err="1">
                          <a:effectLst/>
                        </a:rPr>
                        <a:t>Mitigation</a:t>
                      </a:r>
                      <a:r>
                        <a:rPr lang="it-IT" sz="1400" b="1" u="none" strike="noStrike" dirty="0">
                          <a:effectLst/>
                        </a:rPr>
                        <a:t>/</a:t>
                      </a:r>
                      <a:r>
                        <a:rPr lang="it-IT" sz="1400" b="1" u="none" strike="noStrike" dirty="0" err="1">
                          <a:effectLst/>
                        </a:rPr>
                        <a:t>Requirement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16585808"/>
                  </a:ext>
                </a:extLst>
              </a:tr>
              <a:tr h="8156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Financial </a:t>
                      </a:r>
                      <a:r>
                        <a:rPr lang="it-IT" sz="1400" u="none" strike="noStrike" dirty="0" err="1">
                          <a:effectLst/>
                        </a:rPr>
                        <a:t>Accuracy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Estimates</a:t>
                      </a:r>
                      <a:r>
                        <a:rPr lang="it-IT" sz="1400" u="none" strike="noStrike" dirty="0">
                          <a:effectLst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</a:rPr>
                        <a:t>provided</a:t>
                      </a:r>
                      <a:r>
                        <a:rPr lang="it-IT" sz="1400" u="none" strike="noStrike" dirty="0">
                          <a:effectLst/>
                        </a:rPr>
                        <a:t> are </a:t>
                      </a:r>
                      <a:r>
                        <a:rPr lang="it-IT" sz="1400" u="none" strike="noStrike" dirty="0" err="1">
                          <a:effectLst/>
                        </a:rPr>
                        <a:t>approximations</a:t>
                      </a:r>
                      <a:r>
                        <a:rPr lang="it-IT" sz="1400" u="none" strike="noStrike" dirty="0">
                          <a:effectLst/>
                        </a:rPr>
                        <a:t> and AI </a:t>
                      </a:r>
                      <a:r>
                        <a:rPr lang="it-IT" sz="1400" u="none" strike="noStrike" dirty="0" err="1">
                          <a:effectLst/>
                        </a:rPr>
                        <a:t>generated</a:t>
                      </a:r>
                      <a:r>
                        <a:rPr lang="it-IT" sz="1400" u="none" strike="noStrike" dirty="0">
                          <a:effectLst/>
                        </a:rPr>
                        <a:t> ranges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Must be verified by a qualified professional before settlement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52312655"/>
                  </a:ext>
                </a:extLst>
              </a:tr>
              <a:tr h="7590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Regulatory</a:t>
                      </a:r>
                      <a:r>
                        <a:rPr lang="it-IT" sz="1400" u="none" strike="noStrike" dirty="0">
                          <a:effectLst/>
                        </a:rPr>
                        <a:t> Compliance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ReAct traces provide auditability but do not equal legal compliance 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Requires</a:t>
                      </a:r>
                      <a:r>
                        <a:rPr lang="it-IT" sz="1400" u="none" strike="noStrike" dirty="0">
                          <a:effectLst/>
                        </a:rPr>
                        <a:t> human </a:t>
                      </a:r>
                      <a:r>
                        <a:rPr lang="it-IT" sz="1400" u="none" strike="noStrike" dirty="0" err="1">
                          <a:effectLst/>
                        </a:rPr>
                        <a:t>oversight</a:t>
                      </a:r>
                      <a:r>
                        <a:rPr lang="it-IT" sz="1400" u="none" strike="noStrike" dirty="0">
                          <a:effectLst/>
                        </a:rPr>
                        <a:t> and </a:t>
                      </a:r>
                      <a:r>
                        <a:rPr lang="it-IT" sz="1400" u="none" strike="noStrike" dirty="0" err="1">
                          <a:effectLst/>
                        </a:rPr>
                        <a:t>documentation</a:t>
                      </a:r>
                      <a:r>
                        <a:rPr lang="it-IT" sz="1400" u="none" strike="noStrike" dirty="0">
                          <a:effectLst/>
                        </a:rPr>
                        <a:t> (EU AI Act </a:t>
                      </a:r>
                      <a:r>
                        <a:rPr lang="it-IT" sz="1400" u="none" strike="noStrike" dirty="0" err="1">
                          <a:effectLst/>
                        </a:rPr>
                        <a:t>Alignment</a:t>
                      </a:r>
                      <a:r>
                        <a:rPr lang="it-IT" sz="1400" u="none" strike="noStrike" dirty="0">
                          <a:effectLst/>
                        </a:rPr>
                        <a:t>)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41098728"/>
                  </a:ext>
                </a:extLst>
              </a:tr>
              <a:tr h="8156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Uncalibrated</a:t>
                      </a:r>
                      <a:r>
                        <a:rPr lang="it-IT" sz="1400" u="none" strike="noStrike" dirty="0">
                          <a:effectLst/>
                        </a:rPr>
                        <a:t> Confidence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Vision confidence is a value self-reported by the model in its JSON output, not a measured probability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Calibrate against labelled claims before using it as a decision threshold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19854173"/>
                  </a:ext>
                </a:extLst>
              </a:tr>
              <a:tr h="9952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Output </a:t>
                      </a:r>
                      <a:r>
                        <a:rPr lang="it-IT" sz="1400" u="none" strike="noStrike" dirty="0" err="1">
                          <a:effectLst/>
                        </a:rPr>
                        <a:t>Variability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Same </a:t>
                      </a:r>
                      <a:r>
                        <a:rPr lang="it-IT" sz="1400" u="none" strike="noStrike" dirty="0" err="1">
                          <a:effectLst/>
                        </a:rPr>
                        <a:t>photos</a:t>
                      </a:r>
                      <a:r>
                        <a:rPr lang="it-IT" sz="1400" u="none" strike="noStrike" dirty="0">
                          <a:effectLst/>
                        </a:rPr>
                        <a:t> can </a:t>
                      </a:r>
                      <a:r>
                        <a:rPr lang="it-IT" sz="1400" u="none" strike="noStrike" dirty="0" err="1">
                          <a:effectLst/>
                        </a:rPr>
                        <a:t>return</a:t>
                      </a:r>
                      <a:r>
                        <a:rPr lang="it-IT" sz="1400" u="none" strike="noStrike" dirty="0">
                          <a:effectLst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</a:rPr>
                        <a:t>different</a:t>
                      </a:r>
                      <a:r>
                        <a:rPr lang="it-IT" sz="1400" u="none" strike="noStrike" dirty="0">
                          <a:effectLst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</a:rPr>
                        <a:t>severity</a:t>
                      </a:r>
                      <a:r>
                        <a:rPr lang="it-IT" sz="1400" u="none" strike="noStrike" dirty="0">
                          <a:effectLst/>
                        </a:rPr>
                        <a:t> and cost ranges (sampling + live </a:t>
                      </a:r>
                      <a:r>
                        <a:rPr lang="it-IT" sz="1400" u="none" strike="noStrike" dirty="0" err="1">
                          <a:effectLst/>
                        </a:rPr>
                        <a:t>search</a:t>
                      </a:r>
                      <a:r>
                        <a:rPr lang="it-IT" sz="1400" u="none" strike="noStrike" dirty="0">
                          <a:effectLst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</a:rPr>
                        <a:t>results</a:t>
                      </a:r>
                      <a:r>
                        <a:rPr lang="it-IT" sz="1400" u="none" strike="noStrike" dirty="0">
                          <a:effectLst/>
                        </a:rPr>
                        <a:t>)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Repeat</a:t>
                      </a:r>
                      <a:r>
                        <a:rPr lang="it-IT" sz="1400" u="none" strike="noStrike" dirty="0">
                          <a:effectLst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</a:rPr>
                        <a:t>runs</a:t>
                      </a:r>
                      <a:r>
                        <a:rPr lang="it-IT" sz="1400" u="none" strike="noStrike" dirty="0">
                          <a:effectLst/>
                        </a:rPr>
                        <a:t> and report a range; log model and app </a:t>
                      </a:r>
                      <a:r>
                        <a:rPr lang="it-IT" sz="1400" u="none" strike="noStrike" dirty="0" err="1">
                          <a:effectLst/>
                        </a:rPr>
                        <a:t>version</a:t>
                      </a:r>
                      <a:r>
                        <a:rPr lang="it-IT" sz="1400" u="none" strike="noStrike" dirty="0">
                          <a:effectLst/>
                        </a:rPr>
                        <a:t>, case inputs and grounding sources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35639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554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8">
          <a:extLst>
            <a:ext uri="{FF2B5EF4-FFF2-40B4-BE49-F238E27FC236}">
              <a16:creationId xmlns:a16="http://schemas.microsoft.com/office/drawing/2014/main" id="{66552007-B104-D9C3-A4BE-844D9651C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93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Google Shape;189;g35d9b2fd2a7_0_0">
            <a:extLst>
              <a:ext uri="{FF2B5EF4-FFF2-40B4-BE49-F238E27FC236}">
                <a16:creationId xmlns:a16="http://schemas.microsoft.com/office/drawing/2014/main" id="{DC66F73C-D771-AFBD-C41B-65B6067CD9CE}"/>
              </a:ext>
            </a:extLst>
          </p:cNvPr>
          <p:cNvSpPr txBox="1"/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chemeClr val="bg1"/>
                </a:solidFill>
                <a:latin typeface="+mj-lt"/>
                <a:ea typeface="+mj-ea"/>
                <a:cs typeface="+mj-cs"/>
                <a:sym typeface="Overlock"/>
              </a:rPr>
              <a:t>Conclusions</a:t>
            </a:r>
            <a:endParaRPr lang="en-US" sz="4000" b="1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chemeClr val="bg1"/>
              </a:solidFill>
              <a:latin typeface="+mj-lt"/>
              <a:ea typeface="+mj-ea"/>
              <a:cs typeface="+mj-cs"/>
              <a:sym typeface="Overlock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8E3B3C1-66ED-E7E1-DBC5-C82306685236}"/>
              </a:ext>
            </a:extLst>
          </p:cNvPr>
          <p:cNvSpPr txBox="1"/>
          <p:nvPr/>
        </p:nvSpPr>
        <p:spPr>
          <a:xfrm>
            <a:off x="1156851" y="1839388"/>
            <a:ext cx="10263566" cy="4637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/>
              <a:t>	What I’ve learned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✅Building a Multi-Agent System from scratch is possible without using a strict framework.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✅ A Multi-Agent System gives the opportunity to simplify complex dynamics in a valuable automation process for insurance claims. </a:t>
            </a:r>
          </a:p>
          <a:p>
            <a:pPr indent="-2286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✅With a Multi-Agent System, you can employ </a:t>
            </a:r>
            <a:r>
              <a:rPr lang="it-IT" sz="2400" dirty="0"/>
              <a:t>the </a:t>
            </a:r>
            <a:r>
              <a:rPr lang="it-IT" sz="2400" dirty="0" err="1"/>
              <a:t>same</a:t>
            </a:r>
            <a:r>
              <a:rPr lang="it-IT" sz="2400" dirty="0"/>
              <a:t> model with </a:t>
            </a:r>
            <a:r>
              <a:rPr lang="it-IT" sz="2400" dirty="0" err="1"/>
              <a:t>different</a:t>
            </a:r>
            <a:r>
              <a:rPr lang="it-IT" sz="2400" dirty="0"/>
              <a:t> </a:t>
            </a:r>
            <a:r>
              <a:rPr lang="it-IT" sz="2400" dirty="0" err="1"/>
              <a:t>roles</a:t>
            </a:r>
            <a:r>
              <a:rPr lang="it-IT" sz="2400" dirty="0"/>
              <a:t> and tools.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69777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88">
          <a:extLst>
            <a:ext uri="{FF2B5EF4-FFF2-40B4-BE49-F238E27FC236}">
              <a16:creationId xmlns:a16="http://schemas.microsoft.com/office/drawing/2014/main" id="{EFD80C01-A327-BB06-A5D5-2206FA73C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5d9b2fd2a7_0_0">
            <a:extLst>
              <a:ext uri="{FF2B5EF4-FFF2-40B4-BE49-F238E27FC236}">
                <a16:creationId xmlns:a16="http://schemas.microsoft.com/office/drawing/2014/main" id="{4C188C7E-CBD4-1D86-5146-ED4E62294B6B}"/>
              </a:ext>
            </a:extLst>
          </p:cNvPr>
          <p:cNvSpPr txBox="1"/>
          <p:nvPr/>
        </p:nvSpPr>
        <p:spPr>
          <a:xfrm>
            <a:off x="1597693" y="369560"/>
            <a:ext cx="8710800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 b="1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References</a:t>
            </a:r>
            <a:endParaRPr lang="it-IT" sz="3200" b="1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it-IT" sz="3600" dirty="0">
              <a:solidFill>
                <a:schemeClr val="bg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F188C0B-D572-7F94-A13F-7EFBAEB81380}"/>
              </a:ext>
            </a:extLst>
          </p:cNvPr>
          <p:cNvSpPr txBox="1"/>
          <p:nvPr/>
        </p:nvSpPr>
        <p:spPr>
          <a:xfrm>
            <a:off x="827314" y="938926"/>
            <a:ext cx="997131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 app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dirty="0">
                <a:solidFill>
                  <a:srgbClr val="46788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</a:t>
            </a:r>
            <a:endParaRPr lang="it-IT" dirty="0">
              <a:solidFill>
                <a:schemeClr val="bg1"/>
              </a:solidFill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it-IT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Car </a:t>
            </a:r>
            <a:r>
              <a:rPr lang="it-IT" dirty="0" err="1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Damage</a:t>
            </a:r>
            <a:r>
              <a:rPr lang="it-IT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Dataset</a:t>
            </a:r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From Pixel to </a:t>
            </a:r>
            <a:r>
              <a:rPr lang="it-IT" dirty="0" err="1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Payouts</a:t>
            </a: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A Multi-Agent System for Real-Time Insurance </a:t>
            </a:r>
            <a:r>
              <a:rPr lang="it-IT" dirty="0" err="1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Claims</a:t>
            </a:r>
            <a:r>
              <a:rPr lang="it-IT" dirty="0">
                <a:solidFill>
                  <a:srgbClr val="467886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Processing</a:t>
            </a:r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  <a:hlinkClick r:id="rId7" tooltip="https://mercedesblog.com/step-by-step-guide-to-car-insurance-claim-timeline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Step-by-Step Guide to Car Insurance </a:t>
            </a:r>
            <a:r>
              <a:rPr lang="it-IT" dirty="0" err="1">
                <a:solidFill>
                  <a:schemeClr val="bg1"/>
                </a:solidFill>
                <a:hlinkClick r:id="rId7" tooltip="https://mercedesblog.com/step-by-step-guide-to-car-insurance-claim-timeline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Claim</a:t>
            </a:r>
            <a:r>
              <a:rPr lang="it-IT" dirty="0">
                <a:solidFill>
                  <a:schemeClr val="bg1"/>
                </a:solidFill>
                <a:hlinkClick r:id="rId7" tooltip="https://mercedesblog.com/step-by-step-guide-to-car-insurance-claim-timeline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Timelines</a:t>
            </a:r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  <a:hlinkClick r:id="rId8" tooltip="https://gagemathers.com/how-long-does-it-take-for-insurance-to-investigate-a-car-acciden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Long Does </a:t>
            </a:r>
            <a:r>
              <a:rPr lang="it-IT" dirty="0" err="1">
                <a:solidFill>
                  <a:schemeClr val="bg1"/>
                </a:solidFill>
                <a:hlinkClick r:id="rId8" tooltip="https://gagemathers.com/how-long-does-it-take-for-insurance-to-investigate-a-car-acciden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</a:t>
            </a:r>
            <a:r>
              <a:rPr lang="it-IT" dirty="0">
                <a:solidFill>
                  <a:schemeClr val="bg1"/>
                </a:solidFill>
                <a:hlinkClick r:id="rId8" tooltip="https://gagemathers.com/how-long-does-it-take-for-insurance-to-investigate-a-car-acciden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Take For Insurance To Investigate A Car </a:t>
            </a:r>
            <a:r>
              <a:rPr lang="it-IT" dirty="0" err="1">
                <a:solidFill>
                  <a:schemeClr val="bg1"/>
                </a:solidFill>
                <a:hlinkClick r:id="rId8" tooltip="https://gagemathers.com/how-long-does-it-take-for-insurance-to-investigate-a-car-acciden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Accident</a:t>
            </a:r>
            <a:r>
              <a:rPr lang="it-IT" dirty="0">
                <a:solidFill>
                  <a:schemeClr val="bg1"/>
                </a:solidFill>
                <a:hlinkClick r:id="rId8" tooltip="https://gagemathers.com/how-long-does-it-take-for-insurance-to-investigate-a-car-acciden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?</a:t>
            </a:r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Long Does A Road Traffic </a:t>
            </a:r>
            <a:r>
              <a:rPr lang="it-IT" dirty="0" err="1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Accident</a:t>
            </a:r>
            <a:r>
              <a:rPr lang="it-IT" dirty="0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it-IT" dirty="0" err="1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Claim</a:t>
            </a:r>
            <a:r>
              <a:rPr lang="it-IT" dirty="0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Take?</a:t>
            </a:r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</a:rPr>
              <a:t>Jay </a:t>
            </a:r>
            <a:r>
              <a:rPr lang="it-IT" dirty="0" err="1">
                <a:solidFill>
                  <a:schemeClr val="bg1"/>
                </a:solidFill>
              </a:rPr>
              <a:t>Alammar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>
                <a:solidFill>
                  <a:schemeClr val="bg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</a:t>
            </a:r>
            <a:r>
              <a:rPr lang="it-IT" dirty="0" err="1">
                <a:solidFill>
                  <a:schemeClr val="bg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Illustrated</a:t>
            </a:r>
            <a:r>
              <a:rPr lang="it-IT" dirty="0">
                <a:solidFill>
                  <a:schemeClr val="bg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Transformer</a:t>
            </a:r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Transformer</a:t>
            </a:r>
            <a:r>
              <a:rPr lang="it-IT" dirty="0">
                <a:solidFill>
                  <a:schemeClr val="bg1"/>
                </a:solidFill>
              </a:rPr>
              <a:t>, Google </a:t>
            </a:r>
            <a:r>
              <a:rPr lang="it-IT" dirty="0" err="1">
                <a:solidFill>
                  <a:schemeClr val="bg1"/>
                </a:solidFill>
              </a:rPr>
              <a:t>Research</a:t>
            </a:r>
            <a:r>
              <a:rPr lang="it-IT" dirty="0">
                <a:solidFill>
                  <a:schemeClr val="bg1"/>
                </a:solidFill>
              </a:rPr>
              <a:t>, 2017</a:t>
            </a:r>
          </a:p>
          <a:p>
            <a:r>
              <a:rPr lang="it-IT" dirty="0">
                <a:solidFill>
                  <a:schemeClr val="bg1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Large Language Models</a:t>
            </a:r>
            <a:r>
              <a:rPr lang="it-IT" dirty="0">
                <a:solidFill>
                  <a:schemeClr val="bg1"/>
                </a:solidFill>
              </a:rPr>
              <a:t>, NVIDIA</a:t>
            </a:r>
          </a:p>
          <a:p>
            <a:r>
              <a:rPr lang="it-IT" dirty="0" err="1">
                <a:solidFill>
                  <a:schemeClr val="bg1"/>
                </a:solidFill>
              </a:rPr>
              <a:t>Ashish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Vaswani</a:t>
            </a:r>
            <a:r>
              <a:rPr lang="it-IT" dirty="0">
                <a:solidFill>
                  <a:schemeClr val="bg1"/>
                </a:solidFill>
              </a:rPr>
              <a:t>, Noam </a:t>
            </a:r>
            <a:r>
              <a:rPr lang="it-IT" dirty="0" err="1">
                <a:solidFill>
                  <a:schemeClr val="bg1"/>
                </a:solidFill>
              </a:rPr>
              <a:t>Shazeer</a:t>
            </a:r>
            <a:r>
              <a:rPr lang="it-IT" dirty="0">
                <a:solidFill>
                  <a:schemeClr val="bg1"/>
                </a:solidFill>
              </a:rPr>
              <a:t>, Niki </a:t>
            </a:r>
            <a:r>
              <a:rPr lang="it-IT" dirty="0" err="1">
                <a:solidFill>
                  <a:schemeClr val="bg1"/>
                </a:solidFill>
              </a:rPr>
              <a:t>Parmar</a:t>
            </a:r>
            <a:r>
              <a:rPr lang="it-IT" dirty="0">
                <a:solidFill>
                  <a:schemeClr val="bg1"/>
                </a:solidFill>
              </a:rPr>
              <a:t>, Jakob </a:t>
            </a:r>
            <a:r>
              <a:rPr lang="it-IT" dirty="0" err="1">
                <a:solidFill>
                  <a:schemeClr val="bg1"/>
                </a:solidFill>
              </a:rPr>
              <a:t>Uszkoreit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Llion</a:t>
            </a:r>
            <a:r>
              <a:rPr lang="it-IT" dirty="0">
                <a:solidFill>
                  <a:schemeClr val="bg1"/>
                </a:solidFill>
              </a:rPr>
              <a:t> Jones, Aidan N. Gomez, Lukasz Kaiser, Illia </a:t>
            </a:r>
            <a:r>
              <a:rPr lang="it-IT" dirty="0" err="1">
                <a:solidFill>
                  <a:schemeClr val="bg1"/>
                </a:solidFill>
              </a:rPr>
              <a:t>Polosukhin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Attention</a:t>
            </a:r>
            <a:r>
              <a:rPr lang="it-IT" dirty="0">
                <a:solidFill>
                  <a:schemeClr val="bg1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it-IT" dirty="0" err="1">
                <a:solidFill>
                  <a:schemeClr val="bg1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</a:t>
            </a:r>
            <a:r>
              <a:rPr lang="it-IT" dirty="0">
                <a:solidFill>
                  <a:schemeClr val="bg1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it-IT" dirty="0" err="1">
                <a:solidFill>
                  <a:schemeClr val="bg1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</a:t>
            </a:r>
            <a:r>
              <a:rPr lang="it-IT" dirty="0">
                <a:solidFill>
                  <a:schemeClr val="bg1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it-IT" dirty="0" err="1">
                <a:solidFill>
                  <a:schemeClr val="bg1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</a:t>
            </a:r>
            <a:r>
              <a:rPr lang="it-IT" dirty="0">
                <a:solidFill>
                  <a:schemeClr val="bg1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it-IT" dirty="0" err="1">
                <a:solidFill>
                  <a:schemeClr val="bg1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Need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Arxiv</a:t>
            </a:r>
            <a:r>
              <a:rPr lang="it-IT" dirty="0">
                <a:solidFill>
                  <a:schemeClr val="bg1"/>
                </a:solidFill>
              </a:rPr>
              <a:t>, 2017</a:t>
            </a:r>
          </a:p>
          <a:p>
            <a:r>
              <a:rPr lang="it-IT" dirty="0" err="1">
                <a:solidFill>
                  <a:schemeClr val="bg1"/>
                </a:solidFill>
              </a:rPr>
              <a:t>Tianyang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Lin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Yuxin</a:t>
            </a:r>
            <a:r>
              <a:rPr lang="it-IT" dirty="0">
                <a:solidFill>
                  <a:schemeClr val="bg1"/>
                </a:solidFill>
              </a:rPr>
              <a:t> Wang, </a:t>
            </a:r>
            <a:r>
              <a:rPr lang="it-IT" dirty="0" err="1">
                <a:solidFill>
                  <a:schemeClr val="bg1"/>
                </a:solidFill>
              </a:rPr>
              <a:t>Xiangyang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Liu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Xipeng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Qiu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>
                <a:solidFill>
                  <a:schemeClr val="bg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Survey of Transformers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Arxiv</a:t>
            </a:r>
            <a:r>
              <a:rPr lang="it-IT" dirty="0">
                <a:solidFill>
                  <a:schemeClr val="bg1"/>
                </a:solidFill>
              </a:rPr>
              <a:t>, 2021</a:t>
            </a:r>
          </a:p>
          <a:p>
            <a:r>
              <a:rPr lang="it-IT" dirty="0" err="1">
                <a:solidFill>
                  <a:schemeClr val="bg1"/>
                </a:solidFill>
              </a:rPr>
              <a:t>Shervin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Minaee</a:t>
            </a:r>
            <a:r>
              <a:rPr lang="it-IT" dirty="0">
                <a:solidFill>
                  <a:schemeClr val="bg1"/>
                </a:solidFill>
              </a:rPr>
              <a:t>, Tomas </a:t>
            </a:r>
            <a:r>
              <a:rPr lang="it-IT" dirty="0" err="1">
                <a:solidFill>
                  <a:schemeClr val="bg1"/>
                </a:solidFill>
              </a:rPr>
              <a:t>Mikolov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Narjes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Nikzad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Meysam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Chenaghlu</a:t>
            </a:r>
            <a:r>
              <a:rPr lang="it-IT" dirty="0">
                <a:solidFill>
                  <a:schemeClr val="bg1"/>
                </a:solidFill>
              </a:rPr>
              <a:t>, Richard </a:t>
            </a:r>
            <a:r>
              <a:rPr lang="it-IT" dirty="0" err="1">
                <a:solidFill>
                  <a:schemeClr val="bg1"/>
                </a:solidFill>
              </a:rPr>
              <a:t>Socher</a:t>
            </a:r>
            <a:r>
              <a:rPr lang="it-IT" dirty="0">
                <a:solidFill>
                  <a:schemeClr val="bg1"/>
                </a:solidFill>
              </a:rPr>
              <a:t>, Xavier </a:t>
            </a:r>
            <a:r>
              <a:rPr lang="it-IT" dirty="0" err="1">
                <a:solidFill>
                  <a:schemeClr val="bg1"/>
                </a:solidFill>
              </a:rPr>
              <a:t>Amatriain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Jianfeng</a:t>
            </a:r>
            <a:r>
              <a:rPr lang="it-IT" dirty="0">
                <a:solidFill>
                  <a:schemeClr val="bg1"/>
                </a:solidFill>
              </a:rPr>
              <a:t> Gao, </a:t>
            </a:r>
            <a:r>
              <a:rPr lang="it-IT" dirty="0">
                <a:solidFill>
                  <a:schemeClr val="bg1"/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Large Language Models: A Survey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Arxiv</a:t>
            </a:r>
            <a:r>
              <a:rPr lang="it-IT" dirty="0">
                <a:solidFill>
                  <a:schemeClr val="bg1"/>
                </a:solidFill>
              </a:rPr>
              <a:t>, 2024</a:t>
            </a:r>
          </a:p>
          <a:p>
            <a:r>
              <a:rPr lang="it-IT" dirty="0">
                <a:solidFill>
                  <a:schemeClr val="bg1"/>
                </a:solidFill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Vision Language Models</a:t>
            </a:r>
            <a:r>
              <a:rPr lang="it-IT" dirty="0">
                <a:solidFill>
                  <a:schemeClr val="bg1"/>
                </a:solidFill>
              </a:rPr>
              <a:t>, NVIDIA</a:t>
            </a:r>
          </a:p>
          <a:p>
            <a:r>
              <a:rPr lang="it-IT" dirty="0">
                <a:solidFill>
                  <a:schemeClr val="bg1"/>
                </a:solidFill>
              </a:rPr>
              <a:t>Yang </a:t>
            </a:r>
            <a:r>
              <a:rPr lang="it-IT" dirty="0" err="1">
                <a:solidFill>
                  <a:schemeClr val="bg1"/>
                </a:solidFill>
              </a:rPr>
              <a:t>Liu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Yao</a:t>
            </a:r>
            <a:r>
              <a:rPr lang="it-IT" dirty="0">
                <a:solidFill>
                  <a:schemeClr val="bg1"/>
                </a:solidFill>
              </a:rPr>
              <a:t> Zhang, </a:t>
            </a:r>
            <a:r>
              <a:rPr lang="it-IT" dirty="0" err="1">
                <a:solidFill>
                  <a:schemeClr val="bg1"/>
                </a:solidFill>
              </a:rPr>
              <a:t>Yixin</a:t>
            </a:r>
            <a:r>
              <a:rPr lang="it-IT" dirty="0">
                <a:solidFill>
                  <a:schemeClr val="bg1"/>
                </a:solidFill>
              </a:rPr>
              <a:t> Wang, Feng Hou, </a:t>
            </a:r>
            <a:r>
              <a:rPr lang="it-IT" dirty="0" err="1">
                <a:solidFill>
                  <a:schemeClr val="bg1"/>
                </a:solidFill>
              </a:rPr>
              <a:t>Jin</a:t>
            </a:r>
            <a:r>
              <a:rPr lang="it-IT" dirty="0">
                <a:solidFill>
                  <a:schemeClr val="bg1"/>
                </a:solidFill>
              </a:rPr>
              <a:t> Yuan, Jiang Tian, Yang Zhang, </a:t>
            </a:r>
            <a:r>
              <a:rPr lang="it-IT" dirty="0" err="1">
                <a:solidFill>
                  <a:schemeClr val="bg1"/>
                </a:solidFill>
              </a:rPr>
              <a:t>Zhongchao</a:t>
            </a:r>
            <a:r>
              <a:rPr lang="it-IT" dirty="0">
                <a:solidFill>
                  <a:schemeClr val="bg1"/>
                </a:solidFill>
              </a:rPr>
              <a:t> Shi, </a:t>
            </a:r>
            <a:r>
              <a:rPr lang="it-IT" dirty="0" err="1">
                <a:solidFill>
                  <a:schemeClr val="bg1"/>
                </a:solidFill>
              </a:rPr>
              <a:t>Jianping</a:t>
            </a:r>
            <a:r>
              <a:rPr lang="it-IT" dirty="0">
                <a:solidFill>
                  <a:schemeClr val="bg1"/>
                </a:solidFill>
              </a:rPr>
              <a:t> Fan, </a:t>
            </a:r>
            <a:r>
              <a:rPr lang="it-IT" dirty="0" err="1">
                <a:solidFill>
                  <a:schemeClr val="bg1"/>
                </a:solidFill>
              </a:rPr>
              <a:t>Zhiqiang</a:t>
            </a:r>
            <a:r>
              <a:rPr lang="it-IT" dirty="0">
                <a:solidFill>
                  <a:schemeClr val="bg1"/>
                </a:solidFill>
              </a:rPr>
              <a:t> He, </a:t>
            </a:r>
            <a:r>
              <a:rPr lang="it-IT" dirty="0">
                <a:solidFill>
                  <a:schemeClr val="bg1"/>
                </a:solidFill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Survey of Visual Transformers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Arxiv</a:t>
            </a:r>
            <a:r>
              <a:rPr lang="it-IT" dirty="0">
                <a:solidFill>
                  <a:schemeClr val="bg1"/>
                </a:solidFill>
              </a:rPr>
              <a:t>, 2021</a:t>
            </a:r>
          </a:p>
          <a:p>
            <a:endParaRPr lang="it-IT" dirty="0">
              <a:solidFill>
                <a:schemeClr val="bg1"/>
              </a:solidFill>
            </a:endParaRPr>
          </a:p>
          <a:p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568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88">
          <a:extLst>
            <a:ext uri="{FF2B5EF4-FFF2-40B4-BE49-F238E27FC236}">
              <a16:creationId xmlns:a16="http://schemas.microsoft.com/office/drawing/2014/main" id="{23943DD9-3F23-5EE3-53C2-1FFA73AA9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5d9b2fd2a7_0_0">
            <a:extLst>
              <a:ext uri="{FF2B5EF4-FFF2-40B4-BE49-F238E27FC236}">
                <a16:creationId xmlns:a16="http://schemas.microsoft.com/office/drawing/2014/main" id="{D21985AC-1678-8C58-0206-7BD659001D56}"/>
              </a:ext>
            </a:extLst>
          </p:cNvPr>
          <p:cNvSpPr txBox="1"/>
          <p:nvPr/>
        </p:nvSpPr>
        <p:spPr>
          <a:xfrm>
            <a:off x="1597693" y="369560"/>
            <a:ext cx="8710800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 b="1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Overlock"/>
                <a:sym typeface="Overlock"/>
              </a:rPr>
              <a:t>References</a:t>
            </a:r>
            <a:endParaRPr lang="it-IT" sz="3200" b="1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it-IT" sz="3600" dirty="0">
              <a:solidFill>
                <a:schemeClr val="bg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5617470-A041-0208-22A9-68160636FC33}"/>
              </a:ext>
            </a:extLst>
          </p:cNvPr>
          <p:cNvSpPr txBox="1"/>
          <p:nvPr/>
        </p:nvSpPr>
        <p:spPr>
          <a:xfrm>
            <a:off x="827314" y="938926"/>
            <a:ext cx="99713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Clayton Fields, Casey Kennington, </a:t>
            </a:r>
            <a:r>
              <a:rPr lang="it-IT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Vision Language Transformers: A Survey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Arxiv</a:t>
            </a:r>
            <a:r>
              <a:rPr lang="it-IT" dirty="0">
                <a:solidFill>
                  <a:schemeClr val="bg1"/>
                </a:solidFill>
              </a:rPr>
              <a:t>, 2023</a:t>
            </a:r>
          </a:p>
          <a:p>
            <a:r>
              <a:rPr lang="it-IT" dirty="0" err="1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Autonomous</a:t>
            </a:r>
            <a:r>
              <a:rPr lang="it-IT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AI Agents</a:t>
            </a:r>
            <a:r>
              <a:rPr lang="it-IT" dirty="0">
                <a:solidFill>
                  <a:schemeClr val="bg1"/>
                </a:solidFill>
              </a:rPr>
              <a:t>, NVIDIA</a:t>
            </a:r>
          </a:p>
          <a:p>
            <a:r>
              <a:rPr lang="it-IT" dirty="0">
                <a:solidFill>
                  <a:schemeClr val="bg1"/>
                </a:solidFill>
              </a:rPr>
              <a:t>Stuart J. Russell, Peter </a:t>
            </a:r>
            <a:r>
              <a:rPr lang="it-IT" dirty="0" err="1">
                <a:solidFill>
                  <a:schemeClr val="bg1"/>
                </a:solidFill>
              </a:rPr>
              <a:t>Norvig</a:t>
            </a:r>
            <a:r>
              <a:rPr lang="it-IT" dirty="0">
                <a:solidFill>
                  <a:schemeClr val="bg1"/>
                </a:solidFill>
              </a:rPr>
              <a:t>, “</a:t>
            </a:r>
            <a:r>
              <a:rPr lang="it-IT" dirty="0" err="1">
                <a:solidFill>
                  <a:schemeClr val="bg1"/>
                </a:solidFill>
              </a:rPr>
              <a:t>Artificial</a:t>
            </a:r>
            <a:r>
              <a:rPr lang="it-IT" dirty="0">
                <a:solidFill>
                  <a:schemeClr val="bg1"/>
                </a:solidFill>
              </a:rPr>
              <a:t> Intelligence: A </a:t>
            </a:r>
            <a:r>
              <a:rPr lang="it-IT" dirty="0" err="1">
                <a:solidFill>
                  <a:schemeClr val="bg1"/>
                </a:solidFill>
              </a:rPr>
              <a:t>Modern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Approach</a:t>
            </a:r>
            <a:r>
              <a:rPr lang="it-IT" dirty="0">
                <a:solidFill>
                  <a:schemeClr val="bg1"/>
                </a:solidFill>
              </a:rPr>
              <a:t>”, Pearson, 2020</a:t>
            </a:r>
          </a:p>
          <a:p>
            <a:r>
              <a:rPr lang="it-IT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</a:t>
            </a:r>
            <a:r>
              <a:rPr lang="it-IT" dirty="0" err="1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practical</a:t>
            </a:r>
            <a:r>
              <a:rPr lang="it-IT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guide to building agents</a:t>
            </a:r>
            <a:r>
              <a:rPr lang="it-IT" dirty="0">
                <a:solidFill>
                  <a:schemeClr val="bg1"/>
                </a:solidFill>
              </a:rPr>
              <a:t>, OpenAI</a:t>
            </a:r>
          </a:p>
          <a:p>
            <a:r>
              <a:rPr lang="it-IT" dirty="0" err="1">
                <a:solidFill>
                  <a:schemeClr val="bg1"/>
                </a:solidFill>
              </a:rPr>
              <a:t>Jungjun</a:t>
            </a:r>
            <a:r>
              <a:rPr lang="it-IT" dirty="0">
                <a:solidFill>
                  <a:schemeClr val="bg1"/>
                </a:solidFill>
              </a:rPr>
              <a:t> Hur, </a:t>
            </a:r>
            <a:r>
              <a:rPr lang="it-IT" dirty="0" err="1">
                <a:solidFill>
                  <a:schemeClr val="bg1"/>
                </a:solidFill>
              </a:rPr>
              <a:t>Younghee</a:t>
            </a:r>
            <a:r>
              <a:rPr lang="it-IT" dirty="0">
                <a:solidFill>
                  <a:schemeClr val="bg1"/>
                </a:solidFill>
              </a:rPr>
              <a:t> Song, </a:t>
            </a: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Build an AI Agent (From Scratch)</a:t>
            </a:r>
            <a:r>
              <a:rPr lang="it-IT" dirty="0">
                <a:solidFill>
                  <a:schemeClr val="bg1"/>
                </a:solidFill>
              </a:rPr>
              <a:t>, Manning, 2026</a:t>
            </a:r>
          </a:p>
          <a:p>
            <a:r>
              <a:rPr lang="it-IT" dirty="0" err="1">
                <a:solidFill>
                  <a:schemeClr val="bg1"/>
                </a:solidFill>
              </a:rPr>
              <a:t>Shunyu</a:t>
            </a:r>
            <a:r>
              <a:rPr lang="it-IT" dirty="0">
                <a:solidFill>
                  <a:schemeClr val="bg1"/>
                </a:solidFill>
              </a:rPr>
              <a:t> Yao, Jeffrey Zhao, Dian </a:t>
            </a:r>
            <a:r>
              <a:rPr lang="it-IT" dirty="0" err="1">
                <a:solidFill>
                  <a:schemeClr val="bg1"/>
                </a:solidFill>
              </a:rPr>
              <a:t>Yu</a:t>
            </a:r>
            <a:r>
              <a:rPr lang="it-IT" dirty="0">
                <a:solidFill>
                  <a:schemeClr val="bg1"/>
                </a:solidFill>
              </a:rPr>
              <a:t>, Nan </a:t>
            </a:r>
            <a:r>
              <a:rPr lang="it-IT" dirty="0" err="1">
                <a:solidFill>
                  <a:schemeClr val="bg1"/>
                </a:solidFill>
              </a:rPr>
              <a:t>Du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Izhak</a:t>
            </a:r>
            <a:r>
              <a:rPr lang="it-IT" dirty="0">
                <a:solidFill>
                  <a:schemeClr val="bg1"/>
                </a:solidFill>
              </a:rPr>
              <a:t> Shafran, Karthik Narasimhan, Yuan Cao, </a:t>
            </a:r>
            <a:r>
              <a:rPr lang="it-IT" dirty="0" err="1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ReAct</a:t>
            </a:r>
            <a:r>
              <a:rPr lang="it-IT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it-IT" dirty="0" err="1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Synergizing</a:t>
            </a:r>
            <a:r>
              <a:rPr lang="it-IT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it-IT" dirty="0" err="1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Reasoning</a:t>
            </a:r>
            <a:r>
              <a:rPr lang="it-IT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and </a:t>
            </a:r>
            <a:r>
              <a:rPr lang="it-IT" dirty="0" err="1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Acting</a:t>
            </a:r>
            <a:r>
              <a:rPr lang="it-IT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in Language Models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Arxiv</a:t>
            </a:r>
            <a:r>
              <a:rPr lang="it-IT" dirty="0">
                <a:solidFill>
                  <a:schemeClr val="bg1"/>
                </a:solidFill>
              </a:rPr>
              <a:t>, 2023</a:t>
            </a:r>
          </a:p>
          <a:p>
            <a:r>
              <a:rPr lang="it-IT" dirty="0" err="1">
                <a:solidFill>
                  <a:schemeClr val="bg1"/>
                </a:solidFill>
              </a:rPr>
              <a:t>Vipra</a:t>
            </a:r>
            <a:r>
              <a:rPr lang="it-IT" dirty="0">
                <a:solidFill>
                  <a:schemeClr val="bg1"/>
                </a:solidFill>
              </a:rPr>
              <a:t> Singh, </a:t>
            </a:r>
            <a:r>
              <a:rPr lang="it-IT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Agents</a:t>
            </a:r>
            <a:r>
              <a:rPr lang="it-IT" dirty="0">
                <a:solidFill>
                  <a:schemeClr val="bg1"/>
                </a:solidFill>
              </a:rPr>
              <a:t>, Medium, 2025</a:t>
            </a:r>
          </a:p>
          <a:p>
            <a:r>
              <a:rPr lang="it-IT" dirty="0">
                <a:solidFill>
                  <a:schemeClr val="bg1"/>
                </a:solidFill>
              </a:rPr>
              <a:t>McKinsey &amp; Company. </a:t>
            </a:r>
            <a:r>
              <a:rPr lang="it-IT" i="1" dirty="0">
                <a:solidFill>
                  <a:schemeClr val="bg1"/>
                </a:solidFill>
              </a:rPr>
              <a:t>The Future of AI for the Insurance Industry</a:t>
            </a:r>
            <a:r>
              <a:rPr lang="it-IT" dirty="0">
                <a:solidFill>
                  <a:schemeClr val="bg1"/>
                </a:solidFill>
              </a:rPr>
              <a:t>. </a:t>
            </a:r>
            <a:r>
              <a:rPr lang="it-IT" dirty="0" err="1">
                <a:solidFill>
                  <a:schemeClr val="bg1"/>
                </a:solidFill>
              </a:rPr>
              <a:t>July</a:t>
            </a:r>
            <a:r>
              <a:rPr lang="it-IT" dirty="0">
                <a:solidFill>
                  <a:schemeClr val="bg1"/>
                </a:solidFill>
              </a:rPr>
              <a:t> 2025. </a:t>
            </a:r>
            <a:r>
              <a:rPr lang="it-IT" dirty="0" err="1">
                <a:solidFill>
                  <a:schemeClr val="bg1"/>
                </a:solidFill>
              </a:rPr>
              <a:t>Available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at</a:t>
            </a:r>
            <a:r>
              <a:rPr lang="it-IT" dirty="0">
                <a:solidFill>
                  <a:schemeClr val="bg1"/>
                </a:solidFill>
              </a:rPr>
              <a:t>: </a:t>
            </a:r>
            <a:r>
              <a:rPr lang="it-IT" dirty="0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mckinsey.com/</a:t>
            </a:r>
            <a:r>
              <a:rPr lang="it-IT" dirty="0" err="1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industries</a:t>
            </a:r>
            <a:r>
              <a:rPr lang="it-IT" dirty="0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it-IT" dirty="0" err="1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financial</a:t>
            </a:r>
            <a:r>
              <a:rPr lang="it-IT" dirty="0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-services/</a:t>
            </a:r>
            <a:r>
              <a:rPr lang="it-IT" dirty="0" err="1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our</a:t>
            </a:r>
            <a:r>
              <a:rPr lang="it-IT" dirty="0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-insights/the-future-of-ai-in-the-insurance-</a:t>
            </a:r>
            <a:r>
              <a:rPr lang="it-IT" dirty="0" err="1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industry</a:t>
            </a:r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Generative-AI-in-Insurance-A-Game-</a:t>
            </a:r>
            <a:r>
              <a:rPr lang="it-IT" dirty="0" err="1">
                <a:solidFill>
                  <a:schemeClr val="bg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Changer</a:t>
            </a:r>
            <a:endParaRPr lang="it-IT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it-IT" dirty="0">
              <a:solidFill>
                <a:schemeClr val="bg1"/>
              </a:solidFill>
            </a:endParaRPr>
          </a:p>
          <a:p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63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E0ABE00E-8EC2-632C-F1BE-2DB31AF07C6C}"/>
              </a:ext>
            </a:extLst>
          </p:cNvPr>
          <p:cNvSpPr txBox="1"/>
          <p:nvPr/>
        </p:nvSpPr>
        <p:spPr>
          <a:xfrm>
            <a:off x="4478694" y="2677886"/>
            <a:ext cx="3582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  <a:latin typeface="Berlin Sans FB Demi" panose="020E0802020502020306" pitchFamily="34" charset="0"/>
              </a:rPr>
              <a:t>Thank </a:t>
            </a:r>
            <a:r>
              <a:rPr lang="it-IT" sz="3600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you</a:t>
            </a:r>
            <a:endParaRPr lang="en-GB" sz="3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258CD8C-CCD6-33AC-F718-873EB1597CB9}"/>
              </a:ext>
            </a:extLst>
          </p:cNvPr>
          <p:cNvSpPr txBox="1"/>
          <p:nvPr/>
        </p:nvSpPr>
        <p:spPr>
          <a:xfrm>
            <a:off x="1160106" y="1667376"/>
            <a:ext cx="35829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dirty="0">
                <a:solidFill>
                  <a:schemeClr val="bg1"/>
                </a:solidFill>
                <a:latin typeface="Berlin Sans FB Demi" panose="020E0802020502020306" pitchFamily="34" charset="0"/>
              </a:rPr>
              <a:t>?</a:t>
            </a:r>
            <a:endParaRPr lang="en-GB" sz="40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548F5F4-7F4D-722D-178D-228526E4CF1D}"/>
              </a:ext>
            </a:extLst>
          </p:cNvPr>
          <p:cNvSpPr txBox="1"/>
          <p:nvPr/>
        </p:nvSpPr>
        <p:spPr>
          <a:xfrm>
            <a:off x="305577" y="2896698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000" dirty="0">
                <a:solidFill>
                  <a:schemeClr val="bg1"/>
                </a:solidFill>
                <a:latin typeface="Berlin Sans FB Demi" panose="020E0802020502020306" pitchFamily="34" charset="0"/>
              </a:rPr>
              <a:t>?</a:t>
            </a:r>
            <a:endParaRPr lang="en-GB" sz="40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8A7A248-298C-1F10-1589-0707F593793B}"/>
              </a:ext>
            </a:extLst>
          </p:cNvPr>
          <p:cNvSpPr txBox="1"/>
          <p:nvPr/>
        </p:nvSpPr>
        <p:spPr>
          <a:xfrm>
            <a:off x="5524500" y="3723306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000" dirty="0">
                <a:solidFill>
                  <a:schemeClr val="bg1"/>
                </a:solidFill>
                <a:latin typeface="Berlin Sans FB Demi" panose="020E0802020502020306" pitchFamily="34" charset="0"/>
              </a:rPr>
              <a:t>?</a:t>
            </a:r>
            <a:endParaRPr lang="en-GB" sz="40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708CB4C-1532-6BE5-E3BB-C7CF83ADC23E}"/>
              </a:ext>
            </a:extLst>
          </p:cNvPr>
          <p:cNvSpPr txBox="1"/>
          <p:nvPr/>
        </p:nvSpPr>
        <p:spPr>
          <a:xfrm>
            <a:off x="5907055" y="877469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000" dirty="0">
                <a:solidFill>
                  <a:schemeClr val="bg1"/>
                </a:solidFill>
                <a:latin typeface="Berlin Sans FB Demi" panose="020E0802020502020306" pitchFamily="34" charset="0"/>
              </a:rPr>
              <a:t>?</a:t>
            </a:r>
            <a:endParaRPr lang="en-GB" sz="40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0A58EE6-7D8A-43CF-3A5B-0727D3751FEF}"/>
              </a:ext>
            </a:extLst>
          </p:cNvPr>
          <p:cNvSpPr txBox="1"/>
          <p:nvPr/>
        </p:nvSpPr>
        <p:spPr>
          <a:xfrm>
            <a:off x="6641063" y="2323943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000" dirty="0">
                <a:solidFill>
                  <a:schemeClr val="bg1"/>
                </a:solidFill>
                <a:latin typeface="Berlin Sans FB Demi" panose="020E0802020502020306" pitchFamily="34" charset="0"/>
              </a:rPr>
              <a:t>?</a:t>
            </a:r>
            <a:endParaRPr lang="en-GB" sz="40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BC2CC5-B02D-DC2B-1F6F-A753367087FA}"/>
              </a:ext>
            </a:extLst>
          </p:cNvPr>
          <p:cNvSpPr txBox="1"/>
          <p:nvPr/>
        </p:nvSpPr>
        <p:spPr>
          <a:xfrm>
            <a:off x="2554255" y="957798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000" dirty="0">
                <a:solidFill>
                  <a:schemeClr val="bg1"/>
                </a:solidFill>
                <a:latin typeface="Berlin Sans FB Demi" panose="020E0802020502020306" pitchFamily="34" charset="0"/>
              </a:rPr>
              <a:t>?</a:t>
            </a:r>
            <a:endParaRPr lang="en-GB" sz="40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E50B1B6-F93E-EB24-DD15-D0397D03B627}"/>
              </a:ext>
            </a:extLst>
          </p:cNvPr>
          <p:cNvSpPr txBox="1"/>
          <p:nvPr/>
        </p:nvSpPr>
        <p:spPr>
          <a:xfrm>
            <a:off x="2951583" y="4003673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000" dirty="0">
                <a:solidFill>
                  <a:schemeClr val="bg1"/>
                </a:solidFill>
                <a:latin typeface="Berlin Sans FB Demi" panose="020E0802020502020306" pitchFamily="34" charset="0"/>
              </a:rPr>
              <a:t>?</a:t>
            </a:r>
            <a:endParaRPr lang="en-GB" sz="40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5879B57-40CF-E608-FC0D-B6651D85E1BD}"/>
              </a:ext>
            </a:extLst>
          </p:cNvPr>
          <p:cNvSpPr txBox="1"/>
          <p:nvPr/>
        </p:nvSpPr>
        <p:spPr>
          <a:xfrm>
            <a:off x="466531" y="4208106"/>
            <a:ext cx="20877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Keep</a:t>
            </a:r>
            <a:r>
              <a:rPr lang="it-IT" dirty="0">
                <a:solidFill>
                  <a:schemeClr val="bg1"/>
                </a:solidFill>
                <a:latin typeface="Berlin Sans FB Demi" panose="020E0802020502020306" pitchFamily="34" charset="0"/>
              </a:rPr>
              <a:t> in touch: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bg1"/>
                </a:solidFill>
                <a:latin typeface="Berlin Sans FB Demi" panose="020E0802020502020306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GB" dirty="0">
              <a:solidFill>
                <a:schemeClr val="bg1"/>
              </a:solidFill>
              <a:latin typeface="Berlin Sans FB Demi" panose="020E08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Berlin Sans FB Demi" panose="020E0802020502020306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Newsletter</a:t>
            </a:r>
            <a:endParaRPr lang="en-GB" dirty="0">
              <a:solidFill>
                <a:schemeClr val="bg1"/>
              </a:solidFill>
              <a:latin typeface="Berlin Sans FB Demi" panose="020E08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Berlin Sans FB Demi" panose="020E0802020502020306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Medium</a:t>
            </a:r>
            <a:endParaRPr lang="en-GB" dirty="0">
              <a:solidFill>
                <a:schemeClr val="bg1"/>
              </a:solidFill>
              <a:latin typeface="Berlin Sans FB Demi" panose="020E08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Berlin Sans FB Demi" panose="020E0802020502020306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</a:t>
            </a:r>
            <a:endParaRPr lang="en-GB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4" name="Immagine 3" descr="Immagine che contiene modello, punto, parole crociate&#10;&#10;Il contenuto generato dall'IA potrebbe non essere corretto.">
            <a:extLst>
              <a:ext uri="{FF2B5EF4-FFF2-40B4-BE49-F238E27FC236}">
                <a16:creationId xmlns:a16="http://schemas.microsoft.com/office/drawing/2014/main" id="{DB116272-77B6-3112-C62D-3C9E41B01E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255" y="4233247"/>
            <a:ext cx="1783806" cy="175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280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4012</TotalTime>
  <Words>1323</Words>
  <Application>Microsoft Office PowerPoint</Application>
  <PresentationFormat>Widescreen</PresentationFormat>
  <Paragraphs>201</Paragraphs>
  <Slides>26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26</vt:i4>
      </vt:variant>
    </vt:vector>
  </HeadingPairs>
  <TitlesOfParts>
    <vt:vector size="35" baseType="lpstr">
      <vt:lpstr>Aptos</vt:lpstr>
      <vt:lpstr>Aptos Display</vt:lpstr>
      <vt:lpstr>Aptos Narrow</vt:lpstr>
      <vt:lpstr>Arial</vt:lpstr>
      <vt:lpstr>Berlin Sans FB Demi</vt:lpstr>
      <vt:lpstr>Calibri</vt:lpstr>
      <vt:lpstr>Overlock</vt:lpstr>
      <vt:lpstr>Verdana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claudio giancaterino</dc:creator>
  <cp:lastModifiedBy>claudio giancaterino</cp:lastModifiedBy>
  <cp:revision>121</cp:revision>
  <dcterms:created xsi:type="dcterms:W3CDTF">2025-06-14T17:21:46Z</dcterms:created>
  <dcterms:modified xsi:type="dcterms:W3CDTF">2026-10-09T20:56:15Z</dcterms:modified>
</cp:coreProperties>
</file>